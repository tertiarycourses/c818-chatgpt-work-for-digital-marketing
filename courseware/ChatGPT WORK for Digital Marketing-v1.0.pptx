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C818. The entire course uses the existing fictional Cook &amp; Bake Academy catalogue. Classroom drafts only. Theme follows the supplied Agentic AI reference deck. Detailed steps are in the LG and lab folders.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learners which deliverable is most useful to their current role. Map LO1 to Labs 1–2, LO2 to Labs 3–4, LO3 to Labs 5–6 and LO4 to Labs 7–8.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C818 copy preserves the original catalogue, brand and signup demo. Optional assistant is adapted to source-only search, without API credential entry. Source files are in Lab 1 assets/cnbacademy.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the concepts before introducing the labs. Learners retain the same selected course and ledger throughout.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chat is useful for exploring an idea. A work task needs a defined deliverable, source material and a review boundary. Treat the agent as a production collaborator: explain the audience, name the files it may use and describe what a reviewer must be able to verify. A confident draft is not evidence that the source was read.</a:t>
            </a:r>
          </a:p>
          <a:p/>
          <a:p>
            <a:r>
              <a:t>Worked example: For the bakery launch, request a campaign brief plus a claim ledger. The ledger must point each fee, date and duration to a catalogue field. The brief is complete only when both files can be opened.</a:t>
            </a:r>
          </a:p>
          <a:p/>
          <a:p>
            <a:r>
              <a:t>Common mistake: Do not substitute an attractive response in the chat for the requested downloadable files.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Chat for quick exploration, Work for a reviewable deliverable, and Codex when developer views help. On the web, Work uses uploaded or connected sources; a desktop local project can use approved folders. These are different access routes, so ask which files are actually available before drafting. Features depend on the account and workspace.</a:t>
            </a:r>
          </a:p>
          <a:p/>
          <a:p>
            <a:r>
              <a:t>Worked example: In this course Work drafts and packages the marketing assets. A browser displays the academy catalogue. A local Python server is only a way to preview the provided website.</a:t>
            </a:r>
          </a:p>
          <a:p/>
          <a:p>
            <a:r>
              <a:t>Common mistake: Do not assume a web project can read a laptop folder, or that a copied path grants file access.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 build workflow becomes a marketing production loop: define the goal, plan the work, create assets, preserve context, version the outputs, prepare distribution and verify the result. Planning separates choices from execution. Versioning means a reviewer can tell which draft is current. Distribution preparation stops before any live send.</a:t>
            </a:r>
          </a:p>
          <a:p/>
          <a:p>
            <a:r>
              <a:t>Worked example: A learner chooses one catalogue course, reviews a two-route flyer plan, creates one route, records its sources and hands the draft to a reviewer. Each revision retains the course facts.</a:t>
            </a:r>
          </a:p>
          <a:p/>
          <a:p>
            <a:r>
              <a:t>Common mistake: Do not carry over coding-specific commands or assume hooks publish a campaign.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useful brief answers who the message is for, what change is desired, what is being offered, why it matters and what action follows. Audience descriptions should express a need rather than a stereotype. A measurable objective names the event and the time window; target values remain UNKNOWN unless someone has supplied them.</a:t>
            </a:r>
          </a:p>
          <a:p/>
          <a:p>
            <a:r>
              <a:t>Worked example: For BAK-101, a weekend home baker wants more confidence managing a starter. The proposed action is to review course details. Bookings, paid spend and sales targets are UNKNOWN in the teaching scenario.</a:t>
            </a:r>
          </a:p>
          <a:p/>
          <a:p>
            <a:r>
              <a:t>Common mistake: A generic objective such as increase awareness cannot guide a single flyer or its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claim ledger distinguishes a source fact, a creative proposal and an unknown. Store the exact field or source location, not only a vague filename. Creative language can explain value but must not change the offer. Dates and prices are copied from the selected record and checked against the website.</a:t>
            </a:r>
          </a:p>
          <a:p/>
          <a:p>
            <a:r>
              <a:t>Worked example: BAK-101 has fee 680, weeks 4 and campus Orchard Road in data/courses.json. Record them as scenario facts. A proposed headline is creative copy. Seats remaining is UNKNOWN; class_size 12 is a capacity, not an availability count.</a:t>
            </a:r>
          </a:p>
          <a:p/>
          <a:p>
            <a:r>
              <a:t>Common mistake: Never turn a capacity into scarcity or a published fee into a discount.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Persistent project guidance carries brand and working rules. Source files carry catalogue facts. The current prompt carries the particular task. Separate those layers so a changed campaign does not silently rewrite brand rules. A small, relevant source pack is easier to review than a large folder of unrelated drafts.</a:t>
            </a:r>
          </a:p>
          <a:p/>
          <a:p>
            <a:r>
              <a:t>Worked example: The project contains brand.md, market-brief.md and courses.json. The task selects BAK-101 and asks for an A5 flyer. Past social drafts can guide voice, but cannot supply new dates.</a:t>
            </a:r>
          </a:p>
          <a:p/>
          <a:p>
            <a:r>
              <a:t>Common mistake: Do not let a previous generated draft become the authority for course facts.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production prompt states the artifact, permitted sources, limitations and observable checks. Ask for a short plan before production when several formats are involved. Precise feedback names the changed element and the facts that must remain fixed. This controls drift better than repeatedly asking for a nicer result.</a:t>
            </a:r>
          </a:p>
          <a:p/>
          <a:p>
            <a:r>
              <a:t>Worked example: Create an A5 flyer for BAK-101 using the catalogue and brand files. Keep all factual copy editable. Return a text proof and source ledger. Stop before publishing.</a:t>
            </a:r>
          </a:p>
          <a:p/>
          <a:p>
            <a:r>
              <a:t>Common mistake: More detail is not always better: contradictory instructions can make the deliverable impossible.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UNKNOWN is a useful production state. It prevents an unsupported detail from acquiring authority through repetition. Maintain an issues list with an owner and a next action. A proposed idea should be labelled as a proposal even when it sounds plausible.</a:t>
            </a:r>
          </a:p>
          <a:p/>
          <a:p>
            <a:r>
              <a:t>Worked example: A cafe-owner audience angle is a proposal supported by baking relevance. A barista syllabus, voucher offer and live booking URL are absent from the catalogue and remain UNKNOWN.</a:t>
            </a:r>
          </a:p>
          <a:p/>
          <a:p>
            <a:r>
              <a:t>Common mistake: Do not invent missing contact information just to fill a flyer footer.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can use files and installed plugins, but availability and permissions vary. Grant only the context needed for the task. For class, use the supplied synthetic files and local previews. A production email tool needs a verified account, approved audience and reviewed send settings; drafting an email never authorizes sending it.</a:t>
            </a:r>
          </a:p>
          <a:p/>
          <a:p>
            <a:r>
              <a:t>Worked example: If no email plugin is installed, Work still produces the sequence, HTML preview and handoff manifest as files. A marketer can import them later into an approved platform.</a:t>
            </a:r>
          </a:p>
          <a:p/>
          <a:p>
            <a:r>
              <a:t>Common mistake: Do not paste account credentials into a prompt or include private subscriber exports.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Verification happens in the saved file, not only in the agent summary. Open the artifact, compare it to the brief and inspect each critical fact. Keep a review log that records the problem, correction and evidence. The person reviewing must be able to reproduce the check.</a:t>
            </a:r>
          </a:p>
          <a:p/>
          <a:p>
            <a:r>
              <a:t>Worked example: The brief says BAK-101 is four weeks. Open the flyer PDF and social article to confirm both say four weeks, then compare against the selected catalogue record.</a:t>
            </a:r>
          </a:p>
          <a:p/>
          <a:p>
            <a:r>
              <a:t>Common mistake: An agent saying checked everything is not a substitute for a readable proof.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existing Cook &amp; Bake Academy catalogue is the shared scenario. It has 20 synthetic courses, with 10 Bakery and 10 Cooking entries. The site separates data from presentation so fees and schedules can be compared directly with the JSON. A cafe-business angle may draw on bakery skills, but the catalogue contains no verified cafe training programme.</a:t>
            </a:r>
          </a:p>
          <a:p/>
          <a:p>
            <a:r>
              <a:t>Worked example: Use Artisan Sourdough Bread Baking as the campaign spine. Keep the academy identity, existing site and original course code across the flyer, article and email.</a:t>
            </a:r>
          </a:p>
          <a:p/>
          <a:p>
            <a:r>
              <a:t>Common mistake: Do not rename the academy or add a cafe course to make the scenario appear more complete.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first checkpoint, a learner should have a campaign brief, selected course record, claim ledger and list of unknowns. These files become the input to every later lab. A recovery pack allows a learner who missed setup to rejoin without borrowing another learner’s generated files.</a:t>
            </a:r>
          </a:p>
          <a:p/>
          <a:p>
            <a:r>
              <a:t>Worked example: The supplied checkpoint chooses BAK-101 and keeps discounts, real registration links and remaining seats UNKNOWN. Later assets inherit that boundary.</a:t>
            </a:r>
          </a:p>
          <a:p/>
          <a:p>
            <a:r>
              <a:t>Common mistake: Do not proceed with conflicting course codes across the brief and ledger.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campaign/brief.md, campaign/selected-course.json, campaign/claim-ledger.csv and campaign/unknowns.md. These define the facts used by every later asset.</a:t>
            </a:r>
          </a:p>
          <a:p>
            <a:r>
              <a:t>Expected checks: The saved selected-course.json has code BAK-101, fee 680, weeks 4 and campus Orchard Road. The brief identifies one audience need and one primary CTA. Every offer fact has a source_field; missing details are UNKNOWN. All four files open and are labelled classroom draft.</a:t>
            </a:r>
          </a:p>
          <a:p>
            <a:r>
              <a:t>Use the supplied checkpoint if a learner falls behind. The PPT intentionally contains no detailed procedures.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campaign/workflow.md, campaign/brand-check.md and campaign/workflow-trial.md. The playbook carries the same rules into flyer, social and email production.</a:t>
            </a:r>
          </a:p>
          <a:p>
            <a:r>
              <a:t>Expected checks: workflow.md has seven named stages with inputs, outputs and checks. The tagline and academy palette match the supplied brand examples. The trial has no invented discounts, chef names or seat availability. The reuse route is recorded accurately: uploaded source or installed skill.</a:t>
            </a:r>
          </a:p>
          <a:p>
            <a:r>
              <a:t>Use the supplied checkpoint if a learner falls behind. The PPT intentionally contains no detailed procedures.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learners to explain their choices using the actual artifacts rather than an agent summary.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the concepts before introducing the labs. Learners retain the same selected course and ledger throughout.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flyer has a small amount of attention to earn. Choose one audience and one action before arranging copy. The headline expresses the learner benefit; supporting facts reduce uncertainty; the call to action tells the reader what to do next. Every element should serve that job.</a:t>
            </a:r>
          </a:p>
          <a:p/>
          <a:p>
            <a:r>
              <a:t>Worked example: For BAK-101, the main benefit is learning to manage a starter and bake loaves. Four weeks, fee and schedule are supporting facts. The CTA points to course details in the demo catalogue.</a:t>
            </a:r>
          </a:p>
          <a:p/>
          <a:p>
            <a:r>
              <a:t>Common mistake: Do not combine three courses, two offers and several competing CTAs in the first flyer.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Hierarchy uses size, placement and contrast to establish reading order. A headline is dominant, followed by the course identity and essential details, then the CTA. White space groups related information and keeps the composition calm. A photograph should support the message without making text harder to read.</a:t>
            </a:r>
          </a:p>
          <a:p/>
          <a:p>
            <a:r>
              <a:t>Worked example: A natural-light bread image occupies one region while course facts sit on a cream panel. The headline is readable before the fee; the CTA has a clear boundary.</a:t>
            </a:r>
          </a:p>
          <a:p/>
          <a:p>
            <a:r>
              <a:t>Common mistake: If every line is bold and large, the eye has no route through the page.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trainer deck follows the supplied terracotta, charcoal and cream reference theme. The marketing assets follow Cook &amp; Bake’s own Crust, Ink, Cream and Basil colours with Georgia headings. These are different design systems serving different audiences. Consistency means using the correct system in each artifact.</a:t>
            </a:r>
          </a:p>
          <a:p/>
          <a:p>
            <a:r>
              <a:t>Worked example: A cream academy flyer uses #B5652D as its accent and #2B211B for text. A classroom diagram uses the reference deck’s #D97757 accent.</a:t>
            </a:r>
          </a:p>
          <a:p/>
          <a:p>
            <a:r>
              <a:t>Common mistake: Do not copy the trainer-slide palette into the academy campaign simply because it looks similar.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generation is useful for food imagery and composition studies. Exact prices, dates and long copy are easier to verify when they remain editable in a layout tool. Treat generated artwork as illustrative, not evidence of a real class. Keep the image prompt and text proof beside the design.</a:t>
            </a:r>
          </a:p>
          <a:p/>
          <a:p>
            <a:r>
              <a:t>Worked example: Generate a natural-light sourdough still life without lettering, then place the course title, source-checked fee and CTA in editable text boxes.</a:t>
            </a:r>
          </a:p>
          <a:p/>
          <a:p>
            <a:r>
              <a:t>Common mistake: Do not use a photorealistic invented chef or classroom as proof of a real trainer or learner.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 and screen formats have different viewing conditions. An A5 portrait layout measures 148 by 210 mm. Social derivatives can use a square or portrait layout chosen for the brief. Recompose rather than crop essential information. A printer’s bleed requirement must be confirmed instead of assumed.</a:t>
            </a:r>
          </a:p>
          <a:p/>
          <a:p>
            <a:r>
              <a:t>Worked example: The classroom flyer uses a 10 mm safe area. Its square derivative carries the same core facts but reduces secondary copy so the CTA remains readable.</a:t>
            </a:r>
          </a:p>
          <a:p/>
          <a:p>
            <a:r>
              <a:t>Common mistake: A square screenshot of an A5 flyer is usually a poor social layout.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must remain readable against its background. WCAG’s minimum contrast guidance uses 4.5:1 for normal text and 3:1 for qualifying large text. These are a useful screen-design check, not a guarantee of print quality. Inspect the actual asset at a practical size as well.</a:t>
            </a:r>
          </a:p>
          <a:p/>
          <a:p>
            <a:r>
              <a:t>Worked example: Use dark Ink on Cream for body copy. Avoid fine terracotta lettering over bread texture. Check the CTA at phone size and the print proof at 100 percent.</a:t>
            </a:r>
          </a:p>
          <a:p/>
          <a:p>
            <a:r>
              <a:t>Common mistake: Do not judge contrast from the colour name or from a zoomed-in editor view alone.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flyer may contain very few words, but each fee, date and location carries risk of being copied incorrectly. Transcribe all visible text and map every factual line back to the selected record. Creative headlines still need to avoid unsupported promises.</a:t>
            </a:r>
          </a:p>
          <a:p/>
          <a:p>
            <a:r>
              <a:t>Worked example: The phrase four-week course maps to weeks = 4. S$680 maps to fee = 680. Saturday 9:30am–12:30pm maps to when. Tax treatment is UNKNOWN in the fictional catalogue.</a:t>
            </a:r>
          </a:p>
          <a:p/>
          <a:p>
            <a:r>
              <a:t>Common mistake: Do not add all-inclusive or guaranteed success unless an approved source supports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route is a different design approach to the same brief, not a random variation in facts. Compare routes against the audience, hierarchy and readability. Choose one route before spending time on production details. The rejected route can remain in the review notes as an explanation of the decision.</a:t>
            </a:r>
          </a:p>
          <a:p/>
          <a:p>
            <a:r>
              <a:t>Worked example: Route A leads with a finished loaf and practical benefit. Route B leads with hands shaping dough. Both carry the same course code, fee, duration and CTA.</a:t>
            </a:r>
          </a:p>
          <a:p/>
          <a:p>
            <a:r>
              <a:t>Common mistake: Changing the offer between routes makes the comparison meaningless.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feedback says what to change, why and what must remain fixed. A narrow correction reduces accidental changes to already verified facts. After revision, compare the full proof again because a small layout change can hide text or alter reading order.</a:t>
            </a:r>
          </a:p>
          <a:p/>
          <a:p>
            <a:r>
              <a:t>Worked example: Move the fee to the details panel and increase body text size. Preserve the course title, four-week duration, schedule, brand colours and tagline exactly.</a:t>
            </a:r>
          </a:p>
          <a:p/>
          <a:p>
            <a:r>
              <a:t>Common mistake: Do not accept a corrected date while overlooking a new spelling error elsewhere.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QR code is a navigation mechanism, not decoration. A generated imitation can look convincing but lead nowhere. Use only a verified destination; otherwise use an explicitly labelled placeholder or omit the code. The demo local website is not a public booking destination.</a:t>
            </a:r>
          </a:p>
          <a:p/>
          <a:p>
            <a:r>
              <a:t>Worked example: The classroom flyer labels its action View course details in the demo catalogue. Its link goes to the provided local preview. No real registration promise is made.</a:t>
            </a:r>
          </a:p>
          <a:p/>
          <a:p>
            <a:r>
              <a:t>Common mistake: Do not make a placeholder look like a working public booking code.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useful review compares the artifact with a specific criterion and records evidence. It checks hierarchy, factual accuracy, brand voice, mobile readability and missing information separately. A polished visual can fail the fact check even when it succeeds aesthetically.</a:t>
            </a:r>
          </a:p>
          <a:p/>
          <a:p>
            <a:r>
              <a:t>Worked example: A review row records fee visible in PDF, source fee = 680, and accepted or revise. A second row checks the CTA at phone size.</a:t>
            </a:r>
          </a:p>
          <a:p/>
          <a:p>
            <a:r>
              <a:t>Common mistake: Avoid an overall looks good note that does not show what was checked.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flyer checkpoint contains the editable A5 source, PDF proof, square derivative, story derivative, generation prompt if used and text proof. Keep a manifest that gives each file’s purpose and status. All formats carry the same course identity and none is a live advertisement.</a:t>
            </a:r>
          </a:p>
          <a:p/>
          <a:p>
            <a:r>
              <a:t>Worked example: The sample checkpoint is a typographic classroom layout. Learners can replace the visual with an approved image while preserving the factual text and source ledger.</a:t>
            </a:r>
          </a:p>
          <a:p/>
          <a:p>
            <a:r>
              <a:t>Common mistake: Do not hand off only flattened screenshots when an editable design was requested.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creative/sourdough/flyer-a5.pptx or another editable layout source, flyer-a5.pdf, flyer-copy.md, image-prompt.txt and text-proof.md.</a:t>
            </a:r>
          </a:p>
          <a:p>
            <a:r>
              <a:t>Expected checks: The A5 page is 148 × 210 mm and essential text stays inside a 10 mm safe area. Title, fee, duration, schedule and campus match the selected record. The saved PDF is readable at 100 percent and has one CTA. An editable source and complete visible-text proof exist.</a:t>
            </a:r>
          </a:p>
          <a:p>
            <a:r>
              <a:t>Use the supplied checkpoint if a learner falls behind. The PPT intentionally contains no detailed procedures.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creative/sourdough/flyer-square.pptx, flyer-story.pptx, their PDF or PNG proofs, variants-proof.md and design-review.csv.</a:t>
            </a:r>
          </a:p>
          <a:p>
            <a:r>
              <a:t>Expected checks: Square and story have the requested aspect ratios, with essential text visible. Both variants match BAK-101’s title, S$680 fee and four-week duration. The story’s key text is outside the classroom top/bottom margin zones. design-review.csv records at least six reproducible checks and corrections.</a:t>
            </a:r>
          </a:p>
          <a:p>
            <a:r>
              <a:t>Use the supplied checkpoint if a learner falls behind. The PPT intentionally contains no detailed procedures.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learners to explain their choices using the actual artifacts rather than an agent summary.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the concepts before introducing the labs. Learners retain the same selected course and ledger throughout.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social article develops an idea beyond a short caption. Begin with the reader’s problem, explain a practical perspective and connect it to a relevant course without making the piece a long advertisement. Separate culinary guidance that needs expert review from catalogue facts.</a:t>
            </a:r>
          </a:p>
          <a:p/>
          <a:p>
            <a:r>
              <a:t>Worked example: An article about building starter confidence explains what a beginner should look for in a structured class. It uses BAK-101’s learning outcomes as evidence without inventing a recipe.</a:t>
            </a:r>
          </a:p>
          <a:p/>
          <a:p>
            <a:r>
              <a:t>Common mistake: Avoid presenting unverified food-safety or fermentation instructions as authoritative advice.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content pillar is a repeatable area of value for an audience. For the academy, useful pillars include skill confidence, process and preparation, course discovery and learner questions. Pillars prevent a calendar from becoming repeated sales copy. They must still serve the campaign objective.</a:t>
            </a:r>
          </a:p>
          <a:p/>
          <a:p>
            <a:r>
              <a:t>Worked example: The first article focuses on confidence. A second post explains what to bring. A course-discovery post introduces the selected course using the exact catalogue fields.</a:t>
            </a:r>
          </a:p>
          <a:p/>
          <a:p>
            <a:r>
              <a:t>Common mistake: A pillar called engagement is too vague to help a writer choose an angle.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hook makes the reader want to continue. It can name a familiar problem or a useful question. It should not create a guarantee, fake scarcity or an invented learner testimonial. Test whether the body actually fulfils the hook’s promise.</a:t>
            </a:r>
          </a:p>
          <a:p/>
          <a:p>
            <a:r>
              <a:t>Worked example: Your starter needs a routine, not guesswork is a creative hook. Become an expert in four weeks overstates the course’s outcomes and should be rejected.</a:t>
            </a:r>
          </a:p>
          <a:p/>
          <a:p>
            <a:r>
              <a:t>Common mistake: Clickbait creates attention that the article cannot justify.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article needs an opening, a developed middle and a conclusion with one next action. Each section should advance the idea. Keep catalogue facts in a clearly sourced block and distinguish advice from the offer. Use headings so readers can scan before deciding to read fully.</a:t>
            </a:r>
          </a:p>
          <a:p/>
          <a:p>
            <a:r>
              <a:t>Worked example: A 500–700 word classroom article has three sections: the beginner’s problem, the learning process and what the selected class covers. Its final CTA points to course details.</a:t>
            </a:r>
          </a:p>
          <a:p/>
          <a:p>
            <a:r>
              <a:t>Common mistake: Do not pad the article with repeated AI phrases or unsupported claims to hit a word count.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Repurposing retains the central promise and source facts while changing the format. A short caption may foreground one useful insight; a carousel divides the idea into discrete panels; a long article provides context. Each format needs its own reading rhythm and one CTA.</a:t>
            </a:r>
          </a:p>
          <a:p/>
          <a:p>
            <a:r>
              <a:t>Worked example: Turn the article into an Instagram caption under 120 words and a Facebook post. Both keep the BAK-101 course title and avoid copying the full article opening.</a:t>
            </a:r>
          </a:p>
          <a:p/>
          <a:p>
            <a:r>
              <a:t>Common mistake: Pasting the same long paragraph everywhere ignores how people read each format.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academy voice is warm, practical and confident. Prefer concrete actions and short sentences. The exact tagline is Learn it. Make it. Take it further. Brand voice can vary slightly by format without changing factual meaning. Remove hype that substitutes for evidence.</a:t>
            </a:r>
          </a:p>
          <a:p/>
          <a:p>
            <a:r>
              <a:t>Worked example: Learn to feed and maintain a starter is grounded in the course outcomes. Unlock your limitless culinary potential is vague and inconsistent with the brand.</a:t>
            </a:r>
          </a:p>
          <a:p/>
          <a:p>
            <a:r>
              <a:t>Common mistake: A casual voice does not justify exaggeration or invented personal experience.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 text conveys the meaningful content of an image to someone who cannot see it. Describe the actual image and its role. Avoid claiming a photo shows a real learner, trainer or venue unless that is verified. Proposed alt text is provisional until the chosen asset exists.</a:t>
            </a:r>
          </a:p>
          <a:p/>
          <a:p>
            <a:r>
              <a:t>Worked example: For an illustrative loaf image: A sliced sourdough loaf on a cream work surface, with its crumb visible. A flyer’s essential offer should also appear in nearby text.</a:t>
            </a:r>
          </a:p>
          <a:p/>
          <a:p>
            <a:r>
              <a:t>Common mistake: Do not use alt text as a pile of keywords or describe an image that was never generated.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content calendar records the message, format, audience, source, owner and review status. Relative day labels avoid implying a real scheduled launch. Dependencies show which assets must be ready first. A calendar should help a team produce and review, not merely assign dates.</a:t>
            </a:r>
          </a:p>
          <a:p/>
          <a:p>
            <a:r>
              <a:t>Worked example: Day 1 introduces the article, Day 3 shares a preparation caption, Day 5 uses the flyer. Each row identifies BAK-101 and points to the same claim ledger.</a:t>
            </a:r>
          </a:p>
          <a:p/>
          <a:p>
            <a:r>
              <a:t>Common mistake: A proposed calendar is not proof that posts are scheduled or published.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reused academy social workflow limits hard-sell posts to one in five. This is a classroom brand rule rather than a universal algorithm rule. Educational and preparation posts can still support the campaign by helping the reader make a decision. Keep promotional status explicit in the calendar.</a:t>
            </a:r>
          </a:p>
          <a:p/>
          <a:p>
            <a:r>
              <a:t>Worked example: A five-post set uses three teaching angles, one practical question and one direct course invitation. All five have a clear purpose and appropriate CTA.</a:t>
            </a:r>
          </a:p>
          <a:p/>
          <a:p>
            <a:r>
              <a:t>Common mistake: Do not label every post educational while all five ask for an immediate purchase.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Originality means developing the message from approved facts and a fresh angle, not paraphrasing a competitor’s post. Keep quotations short, attribute them when used and avoid fabricated testimonials. For class, original prose based on the synthetic catalogue is sufficient.</a:t>
            </a:r>
          </a:p>
          <a:p/>
          <a:p>
            <a:r>
              <a:t>Worked example: The learner drafts an article about choosing a starter-focused course and records the learning outcomes used. No external chef quote is needed to make it persuasive.</a:t>
            </a:r>
          </a:p>
          <a:p/>
          <a:p>
            <a:r>
              <a:t>Common mistake: Do not ask Work to imitate a living writer or scrape a competitor article into the draft.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Editorial review checks the promise, logic, audience relevance, source fidelity and action. Read the piece aloud to find stiff language. Compare each short-form derivative against the article’s meaning. A source ledger catches facts; an editorial checklist catches whether the article earns its CTA.</a:t>
            </a:r>
          </a:p>
          <a:p/>
          <a:p>
            <a:r>
              <a:t>Worked example: A reviewer removes a claim that all beginners struggle and replaces it with a question: Unsure how to keep a starter routine? The proposition becomes more precise.</a:t>
            </a:r>
          </a:p>
          <a:p/>
          <a:p>
            <a:r>
              <a:t>Common mistake: Perfect grammar does not rescue a weak idea or unsupported claim.</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social checkpoint contains the article, platform packages, a five-post calendar and editorial review. Every item has a source and a draft status. The learner can explain how the format changed while the core idea and offer stayed consistent.</a:t>
            </a:r>
          </a:p>
          <a:p/>
          <a:p>
            <a:r>
              <a:t>Worked example: Use the supplied draft article and caption checkpoint if a previous task stalled. Continue by revising it against your own brief, rather than treating the sample as an approved campaign.</a:t>
            </a:r>
          </a:p>
          <a:p/>
          <a:p>
            <a:r>
              <a:t>Common mistake: Do not mark a proposed post as live to make the handoff appear complete.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content/article.md, content/instagram.md, content/facebook.md and content/editorial-review.md.</a:t>
            </a:r>
          </a:p>
          <a:p>
            <a:r>
              <a:t>Expected checks: article.md has 500–700 words, three developed sections and one CTA. Each platform package has a hook, caption, five hashtags, alt text and claim sources. Every offer fact agrees with the ledger; no invented chef or learner testimonial appears. editorial-review.md records at least three specific checks and revisions.</a:t>
            </a:r>
          </a:p>
          <a:p>
            <a:r>
              <a:t>Use the supplied checkpoint if a learner falls behind. The PPT intentionally contains no detailed procedures.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content/calendar.csv, content/posts.md and content/content-review.csv.</a:t>
            </a:r>
          </a:p>
          <a:p>
            <a:r>
              <a:t>Expected checks: calendar.csv has five rows and one hard_sell = yes row. Every row has a source, asset, owner, dependency and draft status. Each post package has one CTA and five hashtags. The review log contains specific evidence and at least one substantive revision.</a:t>
            </a:r>
          </a:p>
          <a:p>
            <a:r>
              <a:t>Use the supplied checkpoint if a learner falls behind. The PPT intentionally contains no detailed procedures.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learners to explain their choices using the actual artifacts rather than an agent summary.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the concepts before introducing the labs. Learners retain the same selected course and ledger throughout.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campaign sequence gives each message a distinct job. Introduction establishes relevance, follow-up reduces uncertainty and a final reminder helps someone act. The timing is a proposal until approved. Repetition should reinforce the decision rather than repeat the same sales paragraph.</a:t>
            </a:r>
          </a:p>
          <a:p/>
          <a:p>
            <a:r>
              <a:t>Worked example: Email 1 introduces BAK-101, Email 2 addresses what learners practise and Email 3 reminds interested readers to view details. No deadline or seats-left claim is invented.</a:t>
            </a:r>
          </a:p>
          <a:p/>
          <a:p>
            <a:r>
              <a:t>Common mistake: Do not add fake urgency just because the last message is called a reminder.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Segmentation chooses recipients by relevant, authorised criteria. Consent and suppression are eligibility rules, not optional message preferences. For class, use a synthetic contact file and a stated rule so learners can prove who is included. Production requirements must be checked by the organisation before a real send.</a:t>
            </a:r>
          </a:p>
          <a:p/>
          <a:p>
            <a:r>
              <a:t>Worked example: Include consent = yes, interest = bakery and suppressed = no. Exclude cooking-only interests, missing consent and suppressed contacts. All supplied addresses use example.com.</a:t>
            </a:r>
          </a:p>
          <a:p/>
          <a:p>
            <a:r>
              <a:t>Common mistake: Do not infer marketing permission from a purchase or from a public email address.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subject line helps a reader decide whether the message is relevant. A preheader adds information instead of repeating the subject. The body fulfils the promise with useful detail and a single primary CTA. Lengths in this course are brief requirements, not universal platform limits.</a:t>
            </a:r>
          </a:p>
          <a:p/>
          <a:p>
            <a:r>
              <a:t>Worked example: Subject: Build your sourdough routine. Preheader: Explore a four-week starter-focused class. The body explains the learning outcomes and links to the demo course details.</a:t>
            </a:r>
          </a:p>
          <a:p/>
          <a:p>
            <a:r>
              <a:t>Common mistake: Do not promise a discount in the subject when the body and catalogue contain none.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Personalisation should improve relevance without making unsupported assumptions. A missing first name needs a sensible fallback. Merge fields are platform-specific and must be previewed in the chosen sending tool. The classroom HTML uses neutral text and records where a platform-specific field would be inserted.</a:t>
            </a:r>
          </a:p>
          <a:p/>
          <a:p>
            <a:r>
              <a:t>Worked example: Use Hello there when a name is absent. Refer to your interest in baking only for contacts whose synthetic record says bakery.</a:t>
            </a:r>
          </a:p>
          <a:p/>
          <a:p>
            <a:r>
              <a:t>Common mistake: Do not address someone by a broken merge tag or expose sensitive personal data in copy.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Email clients vary in layout support. A simple single-column structure with readable text and a visible CTA is a useful starting point. A plain-text version carries the same message. A browser preview checks content and narrow-screen layout, but does not prove rendering in every inbox client.</a:t>
            </a:r>
          </a:p>
          <a:p/>
          <a:p>
            <a:r>
              <a:t>Worked example: A 600 px maximum-width template includes the course facts as live text, a CTA link, a demo unsubscribe placeholder and a plain-text sibling file.</a:t>
            </a:r>
          </a:p>
          <a:p/>
          <a:p>
            <a:r>
              <a:t>Common mistake: Do not call a browser-only preview an inbox deliverability test.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sending requires the approved account, audience, sender details, unsubscribe handling and current links. The classroom package is deliberately unsent. Its manifest lists the items a marketer would confirm in the real platform. A generated send-ready label cannot replace those checks.</a:t>
            </a:r>
          </a:p>
          <a:p/>
          <a:p>
            <a:r>
              <a:t>Worked example: The handoff contains status classroom draft, production sender UNKNOWN and unsubscribe provider configuration UNKNOWN. The learner previews the message without uploading contacts to a service.</a:t>
            </a:r>
          </a:p>
          <a:p/>
          <a:p>
            <a:r>
              <a:t>Common mistake: Do not allow a plugin to send because the copy has been reviewed.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Tracking parameters identify source, medium, campaign and creative variant. Choose a naming convention before generating links so analysis remains comparable. Tracking is descriptive: adding parameters does not itself record a conversion. Use local or example.com destinations for the synthetic exercise.</a:t>
            </a:r>
          </a:p>
          <a:p/>
          <a:p>
            <a:r>
              <a:t>Worked example: utm_source = email, utm_medium = newsletter, utm_campaign = sourdough_oct_demo and utm_content = e1_a. A website would still need approved analytics to record visits and bookings.</a:t>
            </a:r>
          </a:p>
          <a:p/>
          <a:p>
            <a:r>
              <a:t>Common mistake: Never put subscriber email addresses or names into URL parameters.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metrics answer different questions. Delivery measures reach, unique clicks measure interaction and bookings measure a business action. Define denominators before comparing variants. The synthetic exercise uses unique clicks divided by delivered emails and bookings divided by unique clicks.</a:t>
            </a:r>
          </a:p>
          <a:p/>
          <a:p>
            <a:r>
              <a:t>Worked example: Variant A: 980 delivered, 49 unique clicks and 7 bookings gives 5.0% click rate and 14.3% click-to-booking conversion. These are invented teaching figures, not academy performance.</a:t>
            </a:r>
          </a:p>
          <a:p/>
          <a:p>
            <a:r>
              <a:t>Common mistake: Do not divide total clicks by recipients and call it a unique click rate.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and click reports can be affected by automated activity and privacy features. Treat an open-rate change as a signal to investigate rather than proof of improved persuasion. Choose a metric closer to the campaign’s intended action and document its limitations.</a:t>
            </a:r>
          </a:p>
          <a:p/>
          <a:p>
            <a:r>
              <a:t>Worked example: The learner compares unique clicks and bookings in the synthetic file. Real performance and bot filtering are UNKNOWN, so the recommendation is a proposed next test rather than a sales claim.</a:t>
            </a:r>
          </a:p>
          <a:p/>
          <a:p>
            <a:r>
              <a:t>Common mistake: Do not claim revenue growth from open rate alone.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useful A/B comparison changes one meaningful element while keeping audience and timing comparable. State the hypothesis, metric, split and review window in advance. Small synthetic samples illustrate arithmetic but do not establish statistical confidence or a universal winner.</a:t>
            </a:r>
          </a:p>
          <a:p/>
          <a:p>
            <a:r>
              <a:t>Worked example: Change only the subject line between A and B. Keep body, CTA and selection rule fixed. Variant B has a higher click rate in the teaching data; the sample is too small to claim a reliable lift.</a:t>
            </a:r>
          </a:p>
          <a:p/>
          <a:p>
            <a:r>
              <a:t>Common mistake: If everything changes, you cannot explain which change mattered.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handoff manifest lists each file, version, purpose, source, review status and unresolved issue. The next marketer should know what can be used and what still needs confirmation. Separate current files from superseded drafts and preserve the evidence that supports the final version.</a:t>
            </a:r>
          </a:p>
          <a:p/>
          <a:p>
            <a:r>
              <a:t>Worked example: The package includes the flyer, article, calendar, three emails, segmentation result and metrics note. All are marked classroom draft; live account settings and real launch targets remain UNKNOWN.</a:t>
            </a:r>
          </a:p>
          <a:p/>
          <a:p>
            <a:r>
              <a:t>Common mistake: Do not hide unresolved facts in an appendix while labelling the campaign final.</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checkpoint asks the learner to explain a decision using the assets and data. A short recommendation should name what was observed, what remains uncertain and what should be tried next. This closes the loop from brief through production to verification.</a:t>
            </a:r>
          </a:p>
          <a:p/>
          <a:p>
            <a:r>
              <a:t>Worked example: The proposed next test is a clearer subject line with a longer observation window. The learner retains the selected course facts, audience rule and review package rather than reporting invented business success.</a:t>
            </a:r>
          </a:p>
          <a:p/>
          <a:p>
            <a:r>
              <a:t>Common mistake: Do not confuse completing the classroom deliverables with publishing a real campaign.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email/sequence.md, email/email-1.html, email/email-1.txt, email/segment.csv and email/send-checklist.md.</a:t>
            </a:r>
          </a:p>
          <a:p>
            <a:r>
              <a:t>Expected checks: segment.csv contains exactly C001, C004 and C006, with all three rule fields satisfied. sequence.md has three distinct message roles and no invented urgency. Email 1 HTML and text versions carry the same source-checked facts. The HTML preview fits 375 px width and the checklist states not sent.</a:t>
            </a:r>
          </a:p>
          <a:p>
            <a:r>
              <a:t>Use the supplied checkpoint if a learner falls behind. The PPT intentionally contains no detailed procedures.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campaign/metrics.csv, campaign/recommendation.md, campaign/manifest.csv and campaign/handoff.md.</a:t>
            </a:r>
          </a:p>
          <a:p>
            <a:r>
              <a:t>Expected checks: A rates are 98.0%, 5.0% and approximately 14.3%; B rates are 97.5%, approximately 5.95% and 13.79%. The recommendation distinguishes synthetic observation from a proposed test. Every manifest path points to a current file or is explicitly unresolved. The handoff records facts checked, remaining UNKNOWNs and draft/not-sent status.</a:t>
            </a:r>
          </a:p>
          <a:p>
            <a:r>
              <a:t>Use the supplied checkpoint if a learner falls behind. The PPT intentionally contains no detailed procedures.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learners to explain their choices using the actual artifacts rather than an agent summary.</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Official sources: https://learn.chatgpt.com/docs/get-started-with-work ; https://learn.chatgpt.com/docs/projects ; https://learn.chatgpt.com/docs/skills-and-plugins ; https://learn.chatgpt.com/docs/image-generation ; https://www.w3.org/WAI/WCAG21/Understanding/contrast-minimum ; https://mailchimp.com/help/about-open-and-click-rates/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829800" y="-1371600"/>
            <a:ext cx="3657600" cy="3657600"/>
          </a:xfrm>
          <a:prstGeom prst="ellipse">
            <a:avLst/>
          </a:prstGeom>
          <a:solidFill>
            <a:srgbClr val="3F2D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4480560"/>
            <a:ext cx="2926080" cy="2926080"/>
          </a:xfrm>
          <a:prstGeom prst="ellipse">
            <a:avLst/>
          </a:prstGeom>
          <a:solidFill>
            <a:srgbClr val="233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60120"/>
            <a:ext cx="8595360" cy="457200"/>
          </a:xfrm>
          <a:prstGeom prst="rect">
            <a:avLst/>
          </a:prstGeom>
          <a:noFill/>
        </p:spPr>
        <p:txBody>
          <a:bodyPr wrap="square" lIns="0" rIns="0" tIns="0" bIns="0">
            <a:spAutoFit/>
          </a:bodyPr>
          <a:lstStyle/>
          <a:p>
            <a:pPr>
              <a:spcAft>
                <a:spcPts val="600"/>
              </a:spcAft>
            </a:pPr>
            <a:r>
              <a:rPr sz="1400" b="1">
                <a:solidFill>
                  <a:srgbClr val="D97757"/>
                </a:solidFill>
                <a:latin typeface="Calibri"/>
              </a:rPr>
              <a:t>NON-WSQ COURSE · C818</a:t>
            </a:r>
          </a:p>
        </p:txBody>
      </p:sp>
      <p:sp>
        <p:nvSpPr>
          <p:cNvPr id="5" name="TextBox 4"/>
          <p:cNvSpPr txBox="1"/>
          <p:nvPr/>
        </p:nvSpPr>
        <p:spPr>
          <a:xfrm>
            <a:off x="731520" y="1783080"/>
            <a:ext cx="10332720" cy="1920240"/>
          </a:xfrm>
          <a:prstGeom prst="rect">
            <a:avLst/>
          </a:prstGeom>
          <a:noFill/>
        </p:spPr>
        <p:txBody>
          <a:bodyPr wrap="square" lIns="0" rIns="0" tIns="0" bIns="0">
            <a:spAutoFit/>
          </a:bodyPr>
          <a:lstStyle/>
          <a:p>
            <a:pPr>
              <a:spcAft>
                <a:spcPts val="600"/>
              </a:spcAft>
            </a:pPr>
            <a:r>
              <a:rPr sz="4300" b="1">
                <a:solidFill>
                  <a:srgbClr val="F3EFE7"/>
                </a:solidFill>
                <a:latin typeface="Cambria"/>
              </a:rPr>
              <a:t>ChatGPT WORK</a:t>
            </a:r>
          </a:p>
          <a:p>
            <a:pPr>
              <a:spcAft>
                <a:spcPts val="600"/>
              </a:spcAft>
            </a:pPr>
            <a:r>
              <a:rPr sz="4300" b="1">
                <a:solidFill>
                  <a:srgbClr val="F3EFE7"/>
                </a:solidFill>
                <a:latin typeface="Cambria"/>
              </a:rPr>
              <a:t>for Digital Marketing</a:t>
            </a:r>
          </a:p>
        </p:txBody>
      </p:sp>
      <p:sp>
        <p:nvSpPr>
          <p:cNvPr id="6" name="TextBox 5"/>
          <p:cNvSpPr txBox="1"/>
          <p:nvPr/>
        </p:nvSpPr>
        <p:spPr>
          <a:xfrm>
            <a:off x="731520" y="4069080"/>
            <a:ext cx="9144000" cy="640080"/>
          </a:xfrm>
          <a:prstGeom prst="rect">
            <a:avLst/>
          </a:prstGeom>
          <a:noFill/>
        </p:spPr>
        <p:txBody>
          <a:bodyPr wrap="square" lIns="0" rIns="0" tIns="0" bIns="0">
            <a:spAutoFit/>
          </a:bodyPr>
          <a:lstStyle/>
          <a:p>
            <a:pPr>
              <a:spcAft>
                <a:spcPts val="600"/>
              </a:spcAft>
            </a:pPr>
            <a:r>
              <a:rPr sz="2200" b="0">
                <a:solidFill>
                  <a:srgbClr val="F3EFE7"/>
                </a:solidFill>
                <a:latin typeface="Calibri"/>
              </a:rPr>
              <a:t>Flyer design · Social articles · Email campaigns</a:t>
            </a:r>
          </a:p>
        </p:txBody>
      </p:sp>
      <p:sp>
        <p:nvSpPr>
          <p:cNvPr id="7" name="TextBox 6"/>
          <p:cNvSpPr txBox="1"/>
          <p:nvPr/>
        </p:nvSpPr>
        <p:spPr>
          <a:xfrm>
            <a:off x="731520" y="5029200"/>
            <a:ext cx="9144000" cy="548640"/>
          </a:xfrm>
          <a:prstGeom prst="rect">
            <a:avLst/>
          </a:prstGeom>
          <a:noFill/>
        </p:spPr>
        <p:txBody>
          <a:bodyPr wrap="square" lIns="0" rIns="0" tIns="0" bIns="0">
            <a:spAutoFit/>
          </a:bodyPr>
          <a:lstStyle/>
          <a:p>
            <a:pPr>
              <a:spcAft>
                <a:spcPts val="600"/>
              </a:spcAft>
            </a:pPr>
            <a:r>
              <a:rPr sz="1300" b="0">
                <a:solidFill>
                  <a:srgbClr val="F3EFE7"/>
                </a:solidFill>
                <a:latin typeface="Calibri"/>
              </a:rPr>
              <a:t>Tertiary Infotech Academy Pte Ltd</a:t>
            </a:r>
          </a:p>
          <a:p>
            <a:pPr>
              <a:spcAft>
                <a:spcPts val="600"/>
              </a:spcAft>
            </a:pPr>
            <a:r>
              <a:rPr sz="1300" b="0">
                <a:solidFill>
                  <a:srgbClr val="F3EFE7"/>
                </a:solidFill>
                <a:latin typeface="Calibri"/>
              </a:rPr>
              <a:t>UEN: 201200696W</a:t>
            </a:r>
          </a:p>
        </p:txBody>
      </p:sp>
      <p:sp>
        <p:nvSpPr>
          <p:cNvPr id="8" name="TextBox 7"/>
          <p:cNvSpPr txBox="1"/>
          <p:nvPr/>
        </p:nvSpPr>
        <p:spPr>
          <a:xfrm>
            <a:off x="731520" y="5870448"/>
            <a:ext cx="10058400" cy="320040"/>
          </a:xfrm>
          <a:prstGeom prst="rect">
            <a:avLst/>
          </a:prstGeom>
          <a:noFill/>
        </p:spPr>
        <p:txBody>
          <a:bodyPr wrap="square" lIns="0" rIns="0" tIns="0" bIns="0">
            <a:spAutoFit/>
          </a:bodyPr>
          <a:lstStyle/>
          <a:p>
            <a:pPr>
              <a:spcAft>
                <a:spcPts val="600"/>
              </a:spcAft>
            </a:pPr>
            <a:r>
              <a:rPr sz="1200" b="0">
                <a:solidFill>
                  <a:srgbClr val="A39E92"/>
                </a:solidFill>
                <a:latin typeface="Calibri"/>
              </a:rPr>
              <a:t>Version 1.0 · 1 October 2026 · 2 days / 15 instructional hours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COURSE OVERVIEW</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What you will build</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2</a:t>
            </a:r>
          </a:p>
        </p:txBody>
      </p:sp>
      <p:sp>
        <p:nvSpPr>
          <p:cNvPr id="7" name="Rounded Rectangle 6"/>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0" name="TextBox 9"/>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Flyer package</a:t>
            </a:r>
          </a:p>
        </p:txBody>
      </p:sp>
      <p:sp>
        <p:nvSpPr>
          <p:cNvPr id="11" name="TextBox 10"/>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An editable A5 flyer, source proof and square/story derivatives.</a:t>
            </a:r>
          </a:p>
        </p:txBody>
      </p:sp>
      <p:sp>
        <p:nvSpPr>
          <p:cNvPr id="12" name="Rounded Rectangle 11"/>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5" name="TextBox 14"/>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Social package</a:t>
            </a:r>
          </a:p>
        </p:txBody>
      </p:sp>
      <p:sp>
        <p:nvSpPr>
          <p:cNvPr id="16" name="TextBox 15"/>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A developed article, distinct captions and five-post calendar.</a:t>
            </a:r>
          </a:p>
        </p:txBody>
      </p:sp>
      <p:sp>
        <p:nvSpPr>
          <p:cNvPr id="17" name="Rounded Rectangle 16"/>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0" name="TextBox 19"/>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Email package</a:t>
            </a:r>
          </a:p>
        </p:txBody>
      </p:sp>
      <p:sp>
        <p:nvSpPr>
          <p:cNvPr id="21" name="TextBox 20"/>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Three unsent emails, eligible synthetic audience and metric handoff.</a:t>
            </a:r>
          </a:p>
        </p:txBody>
      </p:sp>
      <p:sp>
        <p:nvSpPr>
          <p:cNvPr id="22" name="Rounded Rectangle 21"/>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One shared campaign · the same catalogue facts across every channel</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COURSE OVERVIEW</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Learning outcomes</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3</a:t>
            </a:r>
          </a:p>
        </p:txBody>
      </p:sp>
      <p:sp>
        <p:nvSpPr>
          <p:cNvPr id="7" name="Rounded Rectangle 6"/>
          <p:cNvSpPr/>
          <p:nvPr/>
        </p:nvSpPr>
        <p:spPr>
          <a:xfrm>
            <a:off x="594360" y="1920240"/>
            <a:ext cx="5376672"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121408"/>
            <a:ext cx="4956048" cy="1115568"/>
          </a:xfrm>
          <a:prstGeom prst="rect">
            <a:avLst/>
          </a:prstGeom>
          <a:noFill/>
        </p:spPr>
        <p:txBody>
          <a:bodyPr wrap="square" lIns="0" rIns="0" tIns="0" bIns="0">
            <a:spAutoFit/>
          </a:bodyPr>
          <a:lstStyle/>
          <a:p>
            <a:pPr>
              <a:spcAft>
                <a:spcPts val="600"/>
              </a:spcAft>
            </a:pPr>
            <a:r>
              <a:rPr sz="2000" b="0">
                <a:solidFill>
                  <a:srgbClr val="21201C"/>
                </a:solidFill>
                <a:latin typeface="Calibri"/>
              </a:rPr>
              <a:t>LO1: Delegate a grounded marketing task in ChatGPT Work and maintain a source-checked campaign brief.</a:t>
            </a:r>
          </a:p>
        </p:txBody>
      </p:sp>
      <p:sp>
        <p:nvSpPr>
          <p:cNvPr id="9" name="Rounded Rectangle 8"/>
          <p:cNvSpPr/>
          <p:nvPr/>
        </p:nvSpPr>
        <p:spPr>
          <a:xfrm>
            <a:off x="6217920" y="1920240"/>
            <a:ext cx="5376672"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2121408"/>
            <a:ext cx="4956048" cy="1115568"/>
          </a:xfrm>
          <a:prstGeom prst="rect">
            <a:avLst/>
          </a:prstGeom>
          <a:noFill/>
        </p:spPr>
        <p:txBody>
          <a:bodyPr wrap="square" lIns="0" rIns="0" tIns="0" bIns="0">
            <a:spAutoFit/>
          </a:bodyPr>
          <a:lstStyle/>
          <a:p>
            <a:pPr>
              <a:spcAft>
                <a:spcPts val="600"/>
              </a:spcAft>
            </a:pPr>
            <a:r>
              <a:rPr sz="2000" b="0">
                <a:solidFill>
                  <a:srgbClr val="21201C"/>
                </a:solidFill>
                <a:latin typeface="Calibri"/>
              </a:rPr>
              <a:t>LO2: Create and verify editable flyer designs and format variants using the academy brand.</a:t>
            </a:r>
          </a:p>
        </p:txBody>
      </p:sp>
      <p:sp>
        <p:nvSpPr>
          <p:cNvPr id="11" name="Rounded Rectangle 10"/>
          <p:cNvSpPr/>
          <p:nvPr/>
        </p:nvSpPr>
        <p:spPr>
          <a:xfrm>
            <a:off x="594360" y="3611880"/>
            <a:ext cx="5376672"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813048"/>
            <a:ext cx="4956048" cy="1115568"/>
          </a:xfrm>
          <a:prstGeom prst="rect">
            <a:avLst/>
          </a:prstGeom>
          <a:noFill/>
        </p:spPr>
        <p:txBody>
          <a:bodyPr wrap="square" lIns="0" rIns="0" tIns="0" bIns="0">
            <a:spAutoFit/>
          </a:bodyPr>
          <a:lstStyle/>
          <a:p>
            <a:pPr>
              <a:spcAft>
                <a:spcPts val="600"/>
              </a:spcAft>
            </a:pPr>
            <a:r>
              <a:rPr sz="2000" b="0">
                <a:solidFill>
                  <a:srgbClr val="21201C"/>
                </a:solidFill>
                <a:latin typeface="Calibri"/>
              </a:rPr>
              <a:t>LO3: Produce useful social articles, platform packages and a coherent content calendar.</a:t>
            </a:r>
          </a:p>
        </p:txBody>
      </p:sp>
      <p:sp>
        <p:nvSpPr>
          <p:cNvPr id="13" name="Rounded Rectangle 12"/>
          <p:cNvSpPr/>
          <p:nvPr/>
        </p:nvSpPr>
        <p:spPr>
          <a:xfrm>
            <a:off x="6217920" y="3611880"/>
            <a:ext cx="5376672"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3813048"/>
            <a:ext cx="4956048" cy="1115568"/>
          </a:xfrm>
          <a:prstGeom prst="rect">
            <a:avLst/>
          </a:prstGeom>
          <a:noFill/>
        </p:spPr>
        <p:txBody>
          <a:bodyPr wrap="square" lIns="0" rIns="0" tIns="0" bIns="0">
            <a:spAutoFit/>
          </a:bodyPr>
          <a:lstStyle/>
          <a:p>
            <a:pPr>
              <a:spcAft>
                <a:spcPts val="600"/>
              </a:spcAft>
            </a:pPr>
            <a:r>
              <a:rPr sz="2000" b="0">
                <a:solidFill>
                  <a:srgbClr val="21201C"/>
                </a:solidFill>
                <a:latin typeface="Calibri"/>
              </a:rPr>
              <a:t>LO4: Prepare a segmented email sequence, interpret synthetic campaign metrics and hand off a reviewable package.</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LEARNING FLOW</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How You’ll Learn</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4</a:t>
            </a:r>
          </a:p>
        </p:txBody>
      </p:sp>
      <p:sp>
        <p:nvSpPr>
          <p:cNvPr id="7" name="Rounded Rectangle 6"/>
          <p:cNvSpPr/>
          <p:nvPr/>
        </p:nvSpPr>
        <p:spPr>
          <a:xfrm>
            <a:off x="594360"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58952"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1</a:t>
            </a:r>
          </a:p>
        </p:txBody>
      </p:sp>
      <p:sp>
        <p:nvSpPr>
          <p:cNvPr id="10" name="TextBox 9"/>
          <p:cNvSpPr txBox="1"/>
          <p:nvPr/>
        </p:nvSpPr>
        <p:spPr>
          <a:xfrm>
            <a:off x="1371600"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Demonstrate</a:t>
            </a:r>
          </a:p>
        </p:txBody>
      </p:sp>
      <p:sp>
        <p:nvSpPr>
          <p:cNvPr id="11" name="TextBox 10"/>
          <p:cNvSpPr txBox="1"/>
          <p:nvPr/>
        </p:nvSpPr>
        <p:spPr>
          <a:xfrm>
            <a:off x="813816"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Concept and worked example</a:t>
            </a:r>
          </a:p>
        </p:txBody>
      </p:sp>
      <p:sp>
        <p:nvSpPr>
          <p:cNvPr id="12" name="Right Arrow 11"/>
          <p:cNvSpPr/>
          <p:nvPr/>
        </p:nvSpPr>
        <p:spPr>
          <a:xfrm>
            <a:off x="4023359"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98264"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62856"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2</a:t>
            </a:r>
          </a:p>
        </p:txBody>
      </p:sp>
      <p:sp>
        <p:nvSpPr>
          <p:cNvPr id="16" name="TextBox 15"/>
          <p:cNvSpPr txBox="1"/>
          <p:nvPr/>
        </p:nvSpPr>
        <p:spPr>
          <a:xfrm>
            <a:off x="5175504"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Build + verify</a:t>
            </a:r>
          </a:p>
        </p:txBody>
      </p:sp>
      <p:sp>
        <p:nvSpPr>
          <p:cNvPr id="17" name="TextBox 16"/>
          <p:cNvSpPr txBox="1"/>
          <p:nvPr/>
        </p:nvSpPr>
        <p:spPr>
          <a:xfrm>
            <a:off x="4617720"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Create the asset and prove it</a:t>
            </a:r>
          </a:p>
        </p:txBody>
      </p:sp>
      <p:sp>
        <p:nvSpPr>
          <p:cNvPr id="18" name="Right Arrow 17"/>
          <p:cNvSpPr/>
          <p:nvPr/>
        </p:nvSpPr>
        <p:spPr>
          <a:xfrm>
            <a:off x="7827264"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02168"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366760"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3</a:t>
            </a:r>
          </a:p>
        </p:txBody>
      </p:sp>
      <p:sp>
        <p:nvSpPr>
          <p:cNvPr id="22" name="TextBox 21"/>
          <p:cNvSpPr txBox="1"/>
          <p:nvPr/>
        </p:nvSpPr>
        <p:spPr>
          <a:xfrm>
            <a:off x="8979408"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Discuss + recap</a:t>
            </a:r>
          </a:p>
        </p:txBody>
      </p:sp>
      <p:sp>
        <p:nvSpPr>
          <p:cNvPr id="23" name="TextBox 22"/>
          <p:cNvSpPr txBox="1"/>
          <p:nvPr/>
        </p:nvSpPr>
        <p:spPr>
          <a:xfrm>
            <a:off x="8421624"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Review a choice and improve it</a:t>
            </a:r>
          </a:p>
        </p:txBody>
      </p:sp>
      <p:sp>
        <p:nvSpPr>
          <p:cNvPr id="24" name="Rounded Rectangle 23"/>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Detailed instructions and prompts live in the Learner Guide and lab READMEs.</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COURSE ROUTE</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Two days, one connected campaign</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5</a:t>
            </a:r>
          </a:p>
        </p:txBody>
      </p:sp>
      <p:sp>
        <p:nvSpPr>
          <p:cNvPr id="7" name="Rounded Rectangle 6"/>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0" name="TextBox 9"/>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Day 1 · Ground</a:t>
            </a:r>
          </a:p>
        </p:txBody>
      </p:sp>
      <p:sp>
        <p:nvSpPr>
          <p:cNvPr id="11" name="TextBox 10"/>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Labs 1–2: source facts, brief and reusable workflow.</a:t>
            </a:r>
          </a:p>
        </p:txBody>
      </p:sp>
      <p:sp>
        <p:nvSpPr>
          <p:cNvPr id="12" name="Rounded Rectangle 11"/>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5" name="TextBox 14"/>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Day 1 · Design</a:t>
            </a:r>
          </a:p>
        </p:txBody>
      </p:sp>
      <p:sp>
        <p:nvSpPr>
          <p:cNvPr id="16" name="TextBox 15"/>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Labs 3–4: A5 flyer, variants and visible-text proof.</a:t>
            </a:r>
          </a:p>
        </p:txBody>
      </p:sp>
      <p:sp>
        <p:nvSpPr>
          <p:cNvPr id="17" name="Rounded Rectangle 16"/>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0" name="TextBox 19"/>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Day 2 · Connect</a:t>
            </a:r>
          </a:p>
        </p:txBody>
      </p:sp>
      <p:sp>
        <p:nvSpPr>
          <p:cNvPr id="21" name="TextBox 20"/>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Labs 5–8: social, email, synthetic metrics and handoff.</a:t>
            </a:r>
          </a:p>
        </p:txBody>
      </p:sp>
      <p:sp>
        <p:nvSpPr>
          <p:cNvPr id="22" name="Rounded Rectangle 21"/>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Daily plan: 09:30–18:30 · 60-minute lunch · 30 minutes of tea breaks · 450 instructional minutes</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SETUP</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Bring the right tools and context</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6</a:t>
            </a:r>
          </a:p>
        </p:txBody>
      </p:sp>
      <p:sp>
        <p:nvSpPr>
          <p:cNvPr id="7" name="Rounded Rectangle 6"/>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0" name="TextBox 9"/>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Work access</a:t>
            </a:r>
          </a:p>
        </p:txBody>
      </p:sp>
      <p:sp>
        <p:nvSpPr>
          <p:cNvPr id="11" name="TextBox 10"/>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A ChatGPT account with Work available; features vary by workspace.</a:t>
            </a:r>
          </a:p>
        </p:txBody>
      </p:sp>
      <p:sp>
        <p:nvSpPr>
          <p:cNvPr id="12" name="Rounded Rectangle 11"/>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5" name="TextBox 14"/>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Preview tools</a:t>
            </a:r>
          </a:p>
        </p:txBody>
      </p:sp>
      <p:sp>
        <p:nvSpPr>
          <p:cNvPr id="16" name="TextBox 15"/>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Browser and layout editor. Python 3 previews the supplied website.</a:t>
            </a:r>
          </a:p>
        </p:txBody>
      </p:sp>
      <p:sp>
        <p:nvSpPr>
          <p:cNvPr id="17" name="Rounded Rectangle 16"/>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0" name="TextBox 19"/>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Recovery route</a:t>
            </a:r>
          </a:p>
        </p:txBody>
      </p:sp>
      <p:sp>
        <p:nvSpPr>
          <p:cNvPr id="21" name="TextBox 20"/>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Each lab folder includes source files, prompts and a supplied checkpoint.</a:t>
            </a:r>
          </a:p>
        </p:txBody>
      </p:sp>
      <p:sp>
        <p:nvSpPr>
          <p:cNvPr id="22" name="Rounded Rectangle 21"/>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Use project Sources on web or an approved local project folder on desktop.</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HOUSEKEEPING</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Ground rules for useful work</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7</a:t>
            </a:r>
          </a:p>
        </p:txBody>
      </p:sp>
      <p:sp>
        <p:nvSpPr>
          <p:cNvPr id="7" name="Rounded Rectangle 6"/>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0" name="TextBox 9"/>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Participate</a:t>
            </a:r>
          </a:p>
        </p:txBody>
      </p:sp>
      <p:sp>
        <p:nvSpPr>
          <p:cNvPr id="11" name="TextBox 10"/>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Ask questions, compare choices and return on time.</a:t>
            </a:r>
          </a:p>
        </p:txBody>
      </p:sp>
      <p:sp>
        <p:nvSpPr>
          <p:cNvPr id="12" name="Rounded Rectangle 11"/>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5" name="TextBox 14"/>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Use synthetic data</a:t>
            </a:r>
          </a:p>
        </p:txBody>
      </p:sp>
      <p:sp>
        <p:nvSpPr>
          <p:cNvPr id="16" name="TextBox 15"/>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Only fictional catalogue and example.com contact records.</a:t>
            </a:r>
          </a:p>
        </p:txBody>
      </p:sp>
      <p:sp>
        <p:nvSpPr>
          <p:cNvPr id="17" name="Rounded Rectangle 16"/>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0" name="TextBox 19"/>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Keep work reviewable</a:t>
            </a:r>
          </a:p>
        </p:txBody>
      </p:sp>
      <p:sp>
        <p:nvSpPr>
          <p:cNvPr id="21" name="TextBox 20"/>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Save editable files and evidence; all campaigns stay unsent drafts.</a:t>
            </a:r>
          </a:p>
        </p:txBody>
      </p:sp>
      <p:sp>
        <p:nvSpPr>
          <p:cNvPr id="22" name="Rounded Rectangle 21"/>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Unknown offers stay UNKNOWN. Review each saved file before using it.</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SHARED SCENARIO</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The existing Cook &amp; Bake Academy site</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8</a:t>
            </a:r>
          </a:p>
        </p:txBody>
      </p:sp>
      <p:pic>
        <p:nvPicPr>
          <p:cNvPr id="7" name="Picture 6" descr="academy-desktop.png"/>
          <p:cNvPicPr>
            <a:picLocks noChangeAspect="1"/>
          </p:cNvPicPr>
          <p:nvPr/>
        </p:nvPicPr>
        <p:blipFill>
          <a:blip r:embed="rId2"/>
          <a:stretch>
            <a:fillRect/>
          </a:stretch>
        </p:blipFill>
        <p:spPr>
          <a:xfrm>
            <a:off x="1203350" y="1920240"/>
            <a:ext cx="6188659" cy="4297680"/>
          </a:xfrm>
          <a:prstGeom prst="rect">
            <a:avLst/>
          </a:prstGeom>
        </p:spPr>
      </p:pic>
      <p:sp>
        <p:nvSpPr>
          <p:cNvPr id="8" name="TextBox 7"/>
          <p:cNvSpPr txBox="1"/>
          <p:nvPr/>
        </p:nvSpPr>
        <p:spPr>
          <a:xfrm>
            <a:off x="8321040" y="2286000"/>
            <a:ext cx="3246120" cy="3017520"/>
          </a:xfrm>
          <a:prstGeom prst="rect">
            <a:avLst/>
          </a:prstGeom>
          <a:noFill/>
        </p:spPr>
        <p:txBody>
          <a:bodyPr wrap="square" lIns="0" rIns="0" tIns="0" bIns="0">
            <a:spAutoFit/>
          </a:bodyPr>
          <a:lstStyle/>
          <a:p>
            <a:pPr>
              <a:spcAft>
                <a:spcPts val="600"/>
              </a:spcAft>
            </a:pPr>
            <a:r>
              <a:rPr sz="2000" b="0">
                <a:solidFill>
                  <a:srgbClr val="21201C"/>
                </a:solidFill>
                <a:latin typeface="Calibri"/>
              </a:rPr>
              <a:t>20 synthetic courses</a:t>
            </a:r>
          </a:p>
          <a:p>
            <a:pPr>
              <a:spcAft>
                <a:spcPts val="600"/>
              </a:spcAft>
            </a:pPr>
            <a:r>
              <a:rPr sz="2000" b="0">
                <a:solidFill>
                  <a:srgbClr val="21201C"/>
                </a:solidFill>
                <a:latin typeface="Calibri"/>
              </a:rPr>
              <a:t>10 Bakery + 10 Cooking</a:t>
            </a:r>
          </a:p>
          <a:p>
            <a:pPr>
              <a:spcAft>
                <a:spcPts val="600"/>
              </a:spcAft>
            </a:pPr>
            <a:r>
              <a:rPr sz="2000" b="0">
                <a:solidFill>
                  <a:srgbClr val="21201C"/>
                </a:solidFill>
                <a:latin typeface="Calibri"/>
              </a:rPr>
              <a:t/>
            </a:r>
          </a:p>
          <a:p>
            <a:pPr>
              <a:spcAft>
                <a:spcPts val="600"/>
              </a:spcAft>
            </a:pPr>
            <a:r>
              <a:rPr sz="2000" b="0">
                <a:solidFill>
                  <a:srgbClr val="21201C"/>
                </a:solidFill>
                <a:latin typeface="Calibri"/>
              </a:rPr>
              <a:t>Campaign spine:</a:t>
            </a:r>
          </a:p>
          <a:p>
            <a:pPr>
              <a:spcAft>
                <a:spcPts val="600"/>
              </a:spcAft>
            </a:pPr>
            <a:r>
              <a:rPr sz="2000" b="0">
                <a:solidFill>
                  <a:srgbClr val="21201C"/>
                </a:solidFill>
                <a:latin typeface="Calibri"/>
              </a:rPr>
              <a:t>BAK-101 Sourdough</a:t>
            </a:r>
          </a:p>
          <a:p>
            <a:pPr>
              <a:spcAft>
                <a:spcPts val="600"/>
              </a:spcAft>
            </a:pPr>
            <a:r>
              <a:rPr sz="2000" b="0">
                <a:solidFill>
                  <a:srgbClr val="21201C"/>
                </a:solidFill>
                <a:latin typeface="Calibri"/>
              </a:rPr>
              <a:t/>
            </a:r>
          </a:p>
          <a:p>
            <a:pPr>
              <a:spcAft>
                <a:spcPts val="600"/>
              </a:spcAft>
            </a:pPr>
            <a:r>
              <a:rPr sz="2000" b="0">
                <a:solidFill>
                  <a:srgbClr val="21201C"/>
                </a:solidFill>
                <a:latin typeface="Calibri"/>
              </a:rPr>
              <a:t>Cafe-business angle is a proposal.</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1 · LO1</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F3EFE7"/>
                </a:solidFill>
                <a:latin typeface="Cambria"/>
              </a:rPr>
              <a:t>ChatGPT Work and a grounded brief</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A39E92"/>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A39E92"/>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A39E92"/>
                </a:solidFill>
                <a:latin typeface="Calibri"/>
              </a:rPr>
              <a:t>9</a:t>
            </a:r>
          </a:p>
        </p:txBody>
      </p:sp>
      <p:sp>
        <p:nvSpPr>
          <p:cNvPr id="7" name="Oval 6"/>
          <p:cNvSpPr/>
          <p:nvPr/>
        </p:nvSpPr>
        <p:spPr>
          <a:xfrm>
            <a:off x="9601200" y="4389120"/>
            <a:ext cx="3657600" cy="3657600"/>
          </a:xfrm>
          <a:prstGeom prst="ellipse">
            <a:avLst/>
          </a:prstGeom>
          <a:solidFill>
            <a:srgbClr val="3F2D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286000"/>
            <a:ext cx="9875520" cy="1005840"/>
          </a:xfrm>
          <a:prstGeom prst="rect">
            <a:avLst/>
          </a:prstGeom>
          <a:noFill/>
        </p:spPr>
        <p:txBody>
          <a:bodyPr wrap="square" lIns="0" rIns="0" tIns="0" bIns="0">
            <a:spAutoFit/>
          </a:bodyPr>
          <a:lstStyle/>
          <a:p>
            <a:pPr>
              <a:spcAft>
                <a:spcPts val="600"/>
              </a:spcAft>
            </a:pPr>
            <a:r>
              <a:rPr sz="2500" b="0">
                <a:solidFill>
                  <a:srgbClr val="F3EFE7"/>
                </a:solidFill>
                <a:latin typeface="Calibri"/>
              </a:rPr>
              <a:t>Delegate an outcome · control context · verify facts</a:t>
            </a:r>
          </a:p>
        </p:txBody>
      </p:sp>
      <p:sp>
        <p:nvSpPr>
          <p:cNvPr id="9" name="TextBox 8"/>
          <p:cNvSpPr txBox="1"/>
          <p:nvPr/>
        </p:nvSpPr>
        <p:spPr>
          <a:xfrm>
            <a:off x="594360" y="4069080"/>
            <a:ext cx="9875520" cy="914400"/>
          </a:xfrm>
          <a:prstGeom prst="rect">
            <a:avLst/>
          </a:prstGeom>
          <a:noFill/>
        </p:spPr>
        <p:txBody>
          <a:bodyPr wrap="square" lIns="0" rIns="0" tIns="0" bIns="0">
            <a:spAutoFit/>
          </a:bodyPr>
          <a:lstStyle/>
          <a:p>
            <a:pPr>
              <a:spcAft>
                <a:spcPts val="600"/>
              </a:spcAft>
            </a:pPr>
            <a:r>
              <a:rPr sz="2500" b="0">
                <a:solidFill>
                  <a:srgbClr val="F3EFE7"/>
                </a:solidFill>
                <a:latin typeface="Cambria"/>
              </a:rPr>
              <a:t>Understand the model. Apply it to the academy. Verify the saved result.</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1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From conversation to finished work</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10</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 short chat is useful for exploring an idea.</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Outcome</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Campaign brief</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Evidence</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Claim ledger</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Review</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Open both files</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substitute an attractive response in the chat for the requested downloadable files.</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For the bakery launch, request a campaign brief plus a claim ledger. The ledger must point each fee, date and duration to a catalogue field. The brief is complete only when both files can be opened.</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1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Choose Chat, Work or Codex</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11</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Use Chat for quick exploration, Work for a reviewable deliverable, and Codex when developer views help.</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Chat</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Explore a hook</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Work</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Build campaign files</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Codex</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Inspect code changes</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assume a web project can read a laptop folder, or that a copied path grants file access.</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In this course Work drafts and packages the marketing assets. A browser displays the academy catalogue. A local Python server is only a way to preview the provided website.</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1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The seven-stage marketing workflow</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12</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The reference build workflow becomes a marketing production loop: define the goal, plan the work, create assets, preserve context, version the outputs, prepare distribution and verify the result.</a:t>
            </a:r>
          </a:p>
        </p:txBody>
      </p:sp>
      <p:sp>
        <p:nvSpPr>
          <p:cNvPr id="8" name="Rounded Rectangle 7"/>
          <p:cNvSpPr/>
          <p:nvPr/>
        </p:nvSpPr>
        <p:spPr>
          <a:xfrm>
            <a:off x="594360"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1</a:t>
            </a:r>
          </a:p>
        </p:txBody>
      </p:sp>
      <p:sp>
        <p:nvSpPr>
          <p:cNvPr id="11" name="TextBox 10"/>
          <p:cNvSpPr txBox="1"/>
          <p:nvPr/>
        </p:nvSpPr>
        <p:spPr>
          <a:xfrm>
            <a:off x="1371600"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Goal + plan</a:t>
            </a:r>
          </a:p>
        </p:txBody>
      </p:sp>
      <p:sp>
        <p:nvSpPr>
          <p:cNvPr id="12" name="TextBox 11"/>
          <p:cNvSpPr txBox="1"/>
          <p:nvPr/>
        </p:nvSpPr>
        <p:spPr>
          <a:xfrm>
            <a:off x="813816"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Audience and route</a:t>
            </a:r>
          </a:p>
        </p:txBody>
      </p:sp>
      <p:sp>
        <p:nvSpPr>
          <p:cNvPr id="13" name="Right Arrow 12"/>
          <p:cNvSpPr/>
          <p:nvPr/>
        </p:nvSpPr>
        <p:spPr>
          <a:xfrm>
            <a:off x="4023359"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98264"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62856"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6"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2</a:t>
            </a:r>
          </a:p>
        </p:txBody>
      </p:sp>
      <p:sp>
        <p:nvSpPr>
          <p:cNvPr id="17" name="TextBox 16"/>
          <p:cNvSpPr txBox="1"/>
          <p:nvPr/>
        </p:nvSpPr>
        <p:spPr>
          <a:xfrm>
            <a:off x="5175504"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Create + context</a:t>
            </a:r>
          </a:p>
        </p:txBody>
      </p:sp>
      <p:sp>
        <p:nvSpPr>
          <p:cNvPr id="18" name="TextBox 17"/>
          <p:cNvSpPr txBox="1"/>
          <p:nvPr/>
        </p:nvSpPr>
        <p:spPr>
          <a:xfrm>
            <a:off x="4617720"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Assets and facts</a:t>
            </a:r>
          </a:p>
        </p:txBody>
      </p:sp>
      <p:sp>
        <p:nvSpPr>
          <p:cNvPr id="19" name="Right Arrow 18"/>
          <p:cNvSpPr/>
          <p:nvPr/>
        </p:nvSpPr>
        <p:spPr>
          <a:xfrm>
            <a:off x="7827264"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02168"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66760"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3</a:t>
            </a:r>
          </a:p>
        </p:txBody>
      </p:sp>
      <p:sp>
        <p:nvSpPr>
          <p:cNvPr id="23" name="TextBox 22"/>
          <p:cNvSpPr txBox="1"/>
          <p:nvPr/>
        </p:nvSpPr>
        <p:spPr>
          <a:xfrm>
            <a:off x="8979408"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Version + verify</a:t>
            </a:r>
          </a:p>
        </p:txBody>
      </p:sp>
      <p:sp>
        <p:nvSpPr>
          <p:cNvPr id="24" name="TextBox 23"/>
          <p:cNvSpPr txBox="1"/>
          <p:nvPr/>
        </p:nvSpPr>
        <p:spPr>
          <a:xfrm>
            <a:off x="8421624"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Review package</a:t>
            </a:r>
          </a:p>
        </p:txBody>
      </p:sp>
      <p:sp>
        <p:nvSpPr>
          <p:cNvPr id="25" name="Rounded Rectangle 24"/>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carry over coding-specific commands or assume hooks publish a campaign.</a:t>
            </a:r>
          </a:p>
        </p:txBody>
      </p:sp>
      <p:sp>
        <p:nvSpPr>
          <p:cNvPr id="27" name="TextBox 26"/>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A learner chooses one catalogue course, reviews a two-route flyer plan, creates one route, records its sources and hands the draft to a reviewer. Each revision retains the course facts.</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1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A brief is a decision document</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13</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 useful brief answers who the message is for, what change is desired, what is being offered, why it matters and what action follows.</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Audience</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Weekend home baker</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Need</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Starter confidence</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Action</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Review course details</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A generic objective such as increase awareness cannot guide a single flyer or its verification.</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For BAK-101, a weekend home baker wants more confidence managing a starter. The proposed action is to review course details. Bookings, paid spend and sales targets are UNKNOWN in the teaching scenario.</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1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Build a claim ledger</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14</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 claim ledger distinguishes a source fact, a creative proposal and an unknown.</a:t>
            </a:r>
          </a:p>
        </p:txBody>
      </p:sp>
      <p:sp>
        <p:nvSpPr>
          <p:cNvPr id="8" name="Rectangle 7"/>
          <p:cNvSpPr/>
          <p:nvPr/>
        </p:nvSpPr>
        <p:spPr>
          <a:xfrm>
            <a:off x="594360" y="2697480"/>
            <a:ext cx="210312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807208"/>
            <a:ext cx="1828799" cy="274320"/>
          </a:xfrm>
          <a:prstGeom prst="rect">
            <a:avLst/>
          </a:prstGeom>
          <a:noFill/>
        </p:spPr>
        <p:txBody>
          <a:bodyPr wrap="square" lIns="0" rIns="0" tIns="0" bIns="0">
            <a:spAutoFit/>
          </a:bodyPr>
          <a:lstStyle/>
          <a:p>
            <a:pPr>
              <a:spcAft>
                <a:spcPts val="600"/>
              </a:spcAft>
            </a:pPr>
            <a:r>
              <a:rPr sz="1500" b="1">
                <a:solidFill>
                  <a:srgbClr val="F3EFE7"/>
                </a:solidFill>
                <a:latin typeface="Calibri"/>
              </a:rPr>
              <a:t>Item</a:t>
            </a:r>
          </a:p>
        </p:txBody>
      </p:sp>
      <p:sp>
        <p:nvSpPr>
          <p:cNvPr id="10" name="Rectangle 9"/>
          <p:cNvSpPr/>
          <p:nvPr/>
        </p:nvSpPr>
        <p:spPr>
          <a:xfrm>
            <a:off x="2697480" y="2697480"/>
            <a:ext cx="576072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34640" y="2807208"/>
            <a:ext cx="5486400" cy="274320"/>
          </a:xfrm>
          <a:prstGeom prst="rect">
            <a:avLst/>
          </a:prstGeom>
          <a:noFill/>
        </p:spPr>
        <p:txBody>
          <a:bodyPr wrap="square" lIns="0" rIns="0" tIns="0" bIns="0">
            <a:spAutoFit/>
          </a:bodyPr>
          <a:lstStyle/>
          <a:p>
            <a:pPr>
              <a:spcAft>
                <a:spcPts val="600"/>
              </a:spcAft>
            </a:pPr>
            <a:r>
              <a:rPr sz="1500" b="1">
                <a:solidFill>
                  <a:srgbClr val="F3EFE7"/>
                </a:solidFill>
                <a:latin typeface="Calibri"/>
              </a:rPr>
              <a:t>Evidence / criterion</a:t>
            </a:r>
          </a:p>
        </p:txBody>
      </p:sp>
      <p:sp>
        <p:nvSpPr>
          <p:cNvPr id="12" name="Rectangle 11"/>
          <p:cNvSpPr/>
          <p:nvPr/>
        </p:nvSpPr>
        <p:spPr>
          <a:xfrm>
            <a:off x="8458200" y="2697480"/>
            <a:ext cx="310896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2807208"/>
            <a:ext cx="2834640" cy="274320"/>
          </a:xfrm>
          <a:prstGeom prst="rect">
            <a:avLst/>
          </a:prstGeom>
          <a:noFill/>
        </p:spPr>
        <p:txBody>
          <a:bodyPr wrap="square" lIns="0" rIns="0" tIns="0" bIns="0">
            <a:spAutoFit/>
          </a:bodyPr>
          <a:lstStyle/>
          <a:p>
            <a:pPr>
              <a:spcAft>
                <a:spcPts val="600"/>
              </a:spcAft>
            </a:pPr>
            <a:r>
              <a:rPr sz="1500" b="1">
                <a:solidFill>
                  <a:srgbClr val="F3EFE7"/>
                </a:solidFill>
                <a:latin typeface="Calibri"/>
              </a:rPr>
              <a:t>Decision</a:t>
            </a:r>
          </a:p>
        </p:txBody>
      </p:sp>
      <p:sp>
        <p:nvSpPr>
          <p:cNvPr id="14" name="Rectangle 13"/>
          <p:cNvSpPr/>
          <p:nvPr/>
        </p:nvSpPr>
        <p:spPr>
          <a:xfrm>
            <a:off x="594360" y="3227832"/>
            <a:ext cx="21031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55848"/>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Fact</a:t>
            </a:r>
          </a:p>
        </p:txBody>
      </p:sp>
      <p:sp>
        <p:nvSpPr>
          <p:cNvPr id="16" name="Rectangle 15"/>
          <p:cNvSpPr/>
          <p:nvPr/>
        </p:nvSpPr>
        <p:spPr>
          <a:xfrm>
            <a:off x="2697480" y="3227832"/>
            <a:ext cx="57607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34640" y="3355848"/>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fee = 680</a:t>
            </a:r>
          </a:p>
        </p:txBody>
      </p:sp>
      <p:sp>
        <p:nvSpPr>
          <p:cNvPr id="18" name="Rectangle 17"/>
          <p:cNvSpPr/>
          <p:nvPr/>
        </p:nvSpPr>
        <p:spPr>
          <a:xfrm>
            <a:off x="8458200" y="3227832"/>
            <a:ext cx="310896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3355848"/>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Use</a:t>
            </a:r>
          </a:p>
        </p:txBody>
      </p:sp>
      <p:sp>
        <p:nvSpPr>
          <p:cNvPr id="20" name="Rectangle 19"/>
          <p:cNvSpPr/>
          <p:nvPr/>
        </p:nvSpPr>
        <p:spPr>
          <a:xfrm>
            <a:off x="594360" y="3831335"/>
            <a:ext cx="210312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959352"/>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Proposal</a:t>
            </a:r>
          </a:p>
        </p:txBody>
      </p:sp>
      <p:sp>
        <p:nvSpPr>
          <p:cNvPr id="22" name="Rectangle 21"/>
          <p:cNvSpPr/>
          <p:nvPr/>
        </p:nvSpPr>
        <p:spPr>
          <a:xfrm>
            <a:off x="2697480" y="3831335"/>
            <a:ext cx="576072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34640" y="3959352"/>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Bake with confidence</a:t>
            </a:r>
          </a:p>
        </p:txBody>
      </p:sp>
      <p:sp>
        <p:nvSpPr>
          <p:cNvPr id="24" name="Rectangle 23"/>
          <p:cNvSpPr/>
          <p:nvPr/>
        </p:nvSpPr>
        <p:spPr>
          <a:xfrm>
            <a:off x="8458200" y="3831335"/>
            <a:ext cx="310896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0" y="3959352"/>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Propose</a:t>
            </a:r>
          </a:p>
        </p:txBody>
      </p:sp>
      <p:sp>
        <p:nvSpPr>
          <p:cNvPr id="26" name="Rectangle 25"/>
          <p:cNvSpPr/>
          <p:nvPr/>
        </p:nvSpPr>
        <p:spPr>
          <a:xfrm>
            <a:off x="594360" y="4434840"/>
            <a:ext cx="21031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562856"/>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Unknown</a:t>
            </a:r>
          </a:p>
        </p:txBody>
      </p:sp>
      <p:sp>
        <p:nvSpPr>
          <p:cNvPr id="28" name="Rectangle 27"/>
          <p:cNvSpPr/>
          <p:nvPr/>
        </p:nvSpPr>
        <p:spPr>
          <a:xfrm>
            <a:off x="2697480" y="4434840"/>
            <a:ext cx="57607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34640" y="4562856"/>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Seats remaining</a:t>
            </a:r>
          </a:p>
        </p:txBody>
      </p:sp>
      <p:sp>
        <p:nvSpPr>
          <p:cNvPr id="30" name="Rectangle 29"/>
          <p:cNvSpPr/>
          <p:nvPr/>
        </p:nvSpPr>
        <p:spPr>
          <a:xfrm>
            <a:off x="8458200" y="4434840"/>
            <a:ext cx="310896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0" y="4562856"/>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Check</a:t>
            </a:r>
          </a:p>
        </p:txBody>
      </p:sp>
      <p:sp>
        <p:nvSpPr>
          <p:cNvPr id="32" name="Rounded Rectangle 31"/>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Never turn a capacity into scarcity or a published fee into a discount.</a:t>
            </a:r>
          </a:p>
        </p:txBody>
      </p:sp>
      <p:sp>
        <p:nvSpPr>
          <p:cNvPr id="34" name="TextBox 33"/>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BAK-101 has fee 680, weeks 4 and campus Orchard Road in data/courses.json. Record them as scenario facts. A proposed headline is creative copy. Seats remaining is UNKNOWN; class_size 12 is a capacity, not an availability count.</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1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Context has layers</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15</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Persistent project guidance carries brand and working rules.</a:t>
            </a:r>
          </a:p>
        </p:txBody>
      </p:sp>
      <p:sp>
        <p:nvSpPr>
          <p:cNvPr id="8" name="Rounded Rectangle 7"/>
          <p:cNvSpPr/>
          <p:nvPr/>
        </p:nvSpPr>
        <p:spPr>
          <a:xfrm>
            <a:off x="594360"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1</a:t>
            </a:r>
          </a:p>
        </p:txBody>
      </p:sp>
      <p:sp>
        <p:nvSpPr>
          <p:cNvPr id="11" name="TextBox 10"/>
          <p:cNvSpPr txBox="1"/>
          <p:nvPr/>
        </p:nvSpPr>
        <p:spPr>
          <a:xfrm>
            <a:off x="1371600"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Rules</a:t>
            </a:r>
          </a:p>
        </p:txBody>
      </p:sp>
      <p:sp>
        <p:nvSpPr>
          <p:cNvPr id="12" name="TextBox 11"/>
          <p:cNvSpPr txBox="1"/>
          <p:nvPr/>
        </p:nvSpPr>
        <p:spPr>
          <a:xfrm>
            <a:off x="813816"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Brand voice</a:t>
            </a:r>
          </a:p>
        </p:txBody>
      </p:sp>
      <p:sp>
        <p:nvSpPr>
          <p:cNvPr id="13" name="Right Arrow 12"/>
          <p:cNvSpPr/>
          <p:nvPr/>
        </p:nvSpPr>
        <p:spPr>
          <a:xfrm>
            <a:off x="4023359"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98264"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62856"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6"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2</a:t>
            </a:r>
          </a:p>
        </p:txBody>
      </p:sp>
      <p:sp>
        <p:nvSpPr>
          <p:cNvPr id="17" name="TextBox 16"/>
          <p:cNvSpPr txBox="1"/>
          <p:nvPr/>
        </p:nvSpPr>
        <p:spPr>
          <a:xfrm>
            <a:off x="5175504"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Sources</a:t>
            </a:r>
          </a:p>
        </p:txBody>
      </p:sp>
      <p:sp>
        <p:nvSpPr>
          <p:cNvPr id="18" name="TextBox 17"/>
          <p:cNvSpPr txBox="1"/>
          <p:nvPr/>
        </p:nvSpPr>
        <p:spPr>
          <a:xfrm>
            <a:off x="4617720"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Catalogue record</a:t>
            </a:r>
          </a:p>
        </p:txBody>
      </p:sp>
      <p:sp>
        <p:nvSpPr>
          <p:cNvPr id="19" name="Right Arrow 18"/>
          <p:cNvSpPr/>
          <p:nvPr/>
        </p:nvSpPr>
        <p:spPr>
          <a:xfrm>
            <a:off x="7827264"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02168"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66760"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3</a:t>
            </a:r>
          </a:p>
        </p:txBody>
      </p:sp>
      <p:sp>
        <p:nvSpPr>
          <p:cNvPr id="23" name="TextBox 22"/>
          <p:cNvSpPr txBox="1"/>
          <p:nvPr/>
        </p:nvSpPr>
        <p:spPr>
          <a:xfrm>
            <a:off x="8979408"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Task</a:t>
            </a:r>
          </a:p>
        </p:txBody>
      </p:sp>
      <p:sp>
        <p:nvSpPr>
          <p:cNvPr id="24" name="TextBox 23"/>
          <p:cNvSpPr txBox="1"/>
          <p:nvPr/>
        </p:nvSpPr>
        <p:spPr>
          <a:xfrm>
            <a:off x="8421624"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One campaign</a:t>
            </a:r>
          </a:p>
        </p:txBody>
      </p:sp>
      <p:sp>
        <p:nvSpPr>
          <p:cNvPr id="25" name="Rounded Rectangle 24"/>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let a previous generated draft become the authority for course facts.</a:t>
            </a:r>
          </a:p>
        </p:txBody>
      </p:sp>
      <p:sp>
        <p:nvSpPr>
          <p:cNvPr id="27" name="TextBox 26"/>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The project contains brand.md, market-brief.md and courses.json. The task selects BAK-101 and asks for an A5 flyer. Past social drafts can guide voice, but cannot supply new dates.</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1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Outcome, sources, constraints, checks</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16</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 production prompt states the artifact, permitted sources, limitations and observable checks.</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Outcome</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Editable flyer</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Constraints</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Approved facts only</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Checks</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Text proof + sources</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More detail is not always better: contradictory instructions can make the deliverable impossible.</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Create an A5 flyer for BAK-101 using the catalogue and brand files. Keep all factual copy editable. Return a text proof and source ledger. Stop before publishing.</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1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Handle missing information visibly</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17</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UNKNOWN is a useful production state.</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Know</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Catalogue facts</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Propose</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Audience angle</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Hold</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Unsupported offer</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invent missing contact information just to fill a flyer footer.</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A cafe-owner audience angle is a proposal supported by baking relevance. A barista syllabus, voucher offer and live booking URL are absent from the catalogue and remain UNKNOWN.</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1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Files and plugins have boundaries</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18</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Work can use files and installed plugins, but availability and permissions vary.</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Read</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Synthetic sources</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Write</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Draft assets</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Send</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Separate approval</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paste account credentials into a prompt or include private subscriber exports.</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If no email plugin is installed, Work still produces the sequence, HTML preview and handoff manifest as files. A marketer can import them later into an approved platform.</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1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Review the actual artifact</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19</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Verification happens in the saved file, not only in the agent summary.</a:t>
            </a:r>
          </a:p>
        </p:txBody>
      </p:sp>
      <p:sp>
        <p:nvSpPr>
          <p:cNvPr id="8" name="Rounded Rectangle 7"/>
          <p:cNvSpPr/>
          <p:nvPr/>
        </p:nvSpPr>
        <p:spPr>
          <a:xfrm>
            <a:off x="594360"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1</a:t>
            </a:r>
          </a:p>
        </p:txBody>
      </p:sp>
      <p:sp>
        <p:nvSpPr>
          <p:cNvPr id="11" name="TextBox 10"/>
          <p:cNvSpPr txBox="1"/>
          <p:nvPr/>
        </p:nvSpPr>
        <p:spPr>
          <a:xfrm>
            <a:off x="1371600"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Open</a:t>
            </a:r>
          </a:p>
        </p:txBody>
      </p:sp>
      <p:sp>
        <p:nvSpPr>
          <p:cNvPr id="12" name="TextBox 11"/>
          <p:cNvSpPr txBox="1"/>
          <p:nvPr/>
        </p:nvSpPr>
        <p:spPr>
          <a:xfrm>
            <a:off x="813816"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Saved file</a:t>
            </a:r>
          </a:p>
        </p:txBody>
      </p:sp>
      <p:sp>
        <p:nvSpPr>
          <p:cNvPr id="13" name="Right Arrow 12"/>
          <p:cNvSpPr/>
          <p:nvPr/>
        </p:nvSpPr>
        <p:spPr>
          <a:xfrm>
            <a:off x="4023359"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98264"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62856"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6"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2</a:t>
            </a:r>
          </a:p>
        </p:txBody>
      </p:sp>
      <p:sp>
        <p:nvSpPr>
          <p:cNvPr id="17" name="TextBox 16"/>
          <p:cNvSpPr txBox="1"/>
          <p:nvPr/>
        </p:nvSpPr>
        <p:spPr>
          <a:xfrm>
            <a:off x="5175504"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Compare</a:t>
            </a:r>
          </a:p>
        </p:txBody>
      </p:sp>
      <p:sp>
        <p:nvSpPr>
          <p:cNvPr id="18" name="TextBox 17"/>
          <p:cNvSpPr txBox="1"/>
          <p:nvPr/>
        </p:nvSpPr>
        <p:spPr>
          <a:xfrm>
            <a:off x="4617720"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Brief + sources</a:t>
            </a:r>
          </a:p>
        </p:txBody>
      </p:sp>
      <p:sp>
        <p:nvSpPr>
          <p:cNvPr id="19" name="Right Arrow 18"/>
          <p:cNvSpPr/>
          <p:nvPr/>
        </p:nvSpPr>
        <p:spPr>
          <a:xfrm>
            <a:off x="7827264"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02168"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66760"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3</a:t>
            </a:r>
          </a:p>
        </p:txBody>
      </p:sp>
      <p:sp>
        <p:nvSpPr>
          <p:cNvPr id="23" name="TextBox 22"/>
          <p:cNvSpPr txBox="1"/>
          <p:nvPr/>
        </p:nvSpPr>
        <p:spPr>
          <a:xfrm>
            <a:off x="8979408"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Record</a:t>
            </a:r>
          </a:p>
        </p:txBody>
      </p:sp>
      <p:sp>
        <p:nvSpPr>
          <p:cNvPr id="24" name="TextBox 23"/>
          <p:cNvSpPr txBox="1"/>
          <p:nvPr/>
        </p:nvSpPr>
        <p:spPr>
          <a:xfrm>
            <a:off x="8421624"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Correction log</a:t>
            </a:r>
          </a:p>
        </p:txBody>
      </p:sp>
      <p:sp>
        <p:nvSpPr>
          <p:cNvPr id="25" name="Rounded Rectangle 24"/>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An agent saying checked everything is not a substitute for a readable proof.</a:t>
            </a:r>
          </a:p>
        </p:txBody>
      </p:sp>
      <p:sp>
        <p:nvSpPr>
          <p:cNvPr id="27" name="TextBox 26"/>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The brief says BAK-101 is four weeks. Open the flyer PDF and social article to confirm both say four weeks, then compare against the selected catalogue record.</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1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Reuse the academy website</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20</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The existing Cook &amp; Bake Academy catalogue is the shared scenario.</a:t>
            </a:r>
          </a:p>
        </p:txBody>
      </p:sp>
      <p:pic>
        <p:nvPicPr>
          <p:cNvPr id="8" name="Picture 7" descr="academy-desktop.png"/>
          <p:cNvPicPr>
            <a:picLocks noChangeAspect="1"/>
          </p:cNvPicPr>
          <p:nvPr/>
        </p:nvPicPr>
        <p:blipFill>
          <a:blip r:embed="rId2"/>
          <a:stretch>
            <a:fillRect/>
          </a:stretch>
        </p:blipFill>
        <p:spPr>
          <a:xfrm>
            <a:off x="6995160" y="2439669"/>
            <a:ext cx="4297680" cy="2984500"/>
          </a:xfrm>
          <a:prstGeom prst="rect">
            <a:avLst/>
          </a:prstGeom>
        </p:spPr>
      </p:pic>
      <p:sp>
        <p:nvSpPr>
          <p:cNvPr id="9" name="Rounded Rectangle 8"/>
          <p:cNvSpPr/>
          <p:nvPr/>
        </p:nvSpPr>
        <p:spPr>
          <a:xfrm>
            <a:off x="594360" y="2560320"/>
            <a:ext cx="585216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79192"/>
            <a:ext cx="1828800" cy="411480"/>
          </a:xfrm>
          <a:prstGeom prst="rect">
            <a:avLst/>
          </a:prstGeom>
          <a:noFill/>
        </p:spPr>
        <p:txBody>
          <a:bodyPr wrap="square" lIns="0" rIns="0" tIns="0" bIns="0">
            <a:spAutoFit/>
          </a:bodyPr>
          <a:lstStyle/>
          <a:p>
            <a:pPr>
              <a:spcAft>
                <a:spcPts val="600"/>
              </a:spcAft>
            </a:pPr>
            <a:r>
              <a:rPr sz="1800" b="1">
                <a:solidFill>
                  <a:srgbClr val="3A7D7B"/>
                </a:solidFill>
                <a:latin typeface="Cambria"/>
              </a:rPr>
              <a:t>Website</a:t>
            </a:r>
          </a:p>
        </p:txBody>
      </p:sp>
      <p:sp>
        <p:nvSpPr>
          <p:cNvPr id="11" name="TextBox 10"/>
          <p:cNvSpPr txBox="1"/>
          <p:nvPr/>
        </p:nvSpPr>
        <p:spPr>
          <a:xfrm>
            <a:off x="2743200" y="2706624"/>
            <a:ext cx="3383280" cy="411480"/>
          </a:xfrm>
          <a:prstGeom prst="rect">
            <a:avLst/>
          </a:prstGeom>
          <a:noFill/>
        </p:spPr>
        <p:txBody>
          <a:bodyPr wrap="square" lIns="0" rIns="0" tIns="0" bIns="0">
            <a:spAutoFit/>
          </a:bodyPr>
          <a:lstStyle/>
          <a:p>
            <a:pPr>
              <a:spcAft>
                <a:spcPts val="600"/>
              </a:spcAft>
            </a:pPr>
            <a:r>
              <a:rPr sz="1700" b="0">
                <a:solidFill>
                  <a:srgbClr val="21201C"/>
                </a:solidFill>
                <a:latin typeface="Calibri"/>
              </a:rPr>
              <a:t>Original catalogue</a:t>
            </a:r>
          </a:p>
        </p:txBody>
      </p:sp>
      <p:sp>
        <p:nvSpPr>
          <p:cNvPr id="12" name="Rounded Rectangle 11"/>
          <p:cNvSpPr/>
          <p:nvPr/>
        </p:nvSpPr>
        <p:spPr>
          <a:xfrm>
            <a:off x="594360" y="3520439"/>
            <a:ext cx="585216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679192"/>
            <a:ext cx="1828800" cy="411480"/>
          </a:xfrm>
          <a:prstGeom prst="rect">
            <a:avLst/>
          </a:prstGeom>
          <a:noFill/>
        </p:spPr>
        <p:txBody>
          <a:bodyPr wrap="square" lIns="0" rIns="0" tIns="0" bIns="0">
            <a:spAutoFit/>
          </a:bodyPr>
          <a:lstStyle/>
          <a:p>
            <a:pPr>
              <a:spcAft>
                <a:spcPts val="600"/>
              </a:spcAft>
            </a:pPr>
            <a:r>
              <a:rPr sz="1800" b="1">
                <a:solidFill>
                  <a:srgbClr val="3A7D7B"/>
                </a:solidFill>
                <a:latin typeface="Cambria"/>
              </a:rPr>
              <a:t>Data</a:t>
            </a:r>
          </a:p>
        </p:txBody>
      </p:sp>
      <p:sp>
        <p:nvSpPr>
          <p:cNvPr id="14" name="TextBox 13"/>
          <p:cNvSpPr txBox="1"/>
          <p:nvPr/>
        </p:nvSpPr>
        <p:spPr>
          <a:xfrm>
            <a:off x="2743200" y="2706624"/>
            <a:ext cx="3383280" cy="411480"/>
          </a:xfrm>
          <a:prstGeom prst="rect">
            <a:avLst/>
          </a:prstGeom>
          <a:noFill/>
        </p:spPr>
        <p:txBody>
          <a:bodyPr wrap="square" lIns="0" rIns="0" tIns="0" bIns="0">
            <a:spAutoFit/>
          </a:bodyPr>
          <a:lstStyle/>
          <a:p>
            <a:pPr>
              <a:spcAft>
                <a:spcPts val="600"/>
              </a:spcAft>
            </a:pPr>
            <a:r>
              <a:rPr sz="1700" b="0">
                <a:solidFill>
                  <a:srgbClr val="21201C"/>
                </a:solidFill>
                <a:latin typeface="Calibri"/>
              </a:rPr>
              <a:t>20 course records</a:t>
            </a:r>
          </a:p>
        </p:txBody>
      </p:sp>
      <p:sp>
        <p:nvSpPr>
          <p:cNvPr id="15" name="Rounded Rectangle 14"/>
          <p:cNvSpPr/>
          <p:nvPr/>
        </p:nvSpPr>
        <p:spPr>
          <a:xfrm>
            <a:off x="594360" y="4480560"/>
            <a:ext cx="585216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679192"/>
            <a:ext cx="1828800" cy="411480"/>
          </a:xfrm>
          <a:prstGeom prst="rect">
            <a:avLst/>
          </a:prstGeom>
          <a:noFill/>
        </p:spPr>
        <p:txBody>
          <a:bodyPr wrap="square" lIns="0" rIns="0" tIns="0" bIns="0">
            <a:spAutoFit/>
          </a:bodyPr>
          <a:lstStyle/>
          <a:p>
            <a:pPr>
              <a:spcAft>
                <a:spcPts val="600"/>
              </a:spcAft>
            </a:pPr>
            <a:r>
              <a:rPr sz="1800" b="1">
                <a:solidFill>
                  <a:srgbClr val="3A7D7B"/>
                </a:solidFill>
                <a:latin typeface="Cambria"/>
              </a:rPr>
              <a:t>Campaign</a:t>
            </a:r>
          </a:p>
        </p:txBody>
      </p:sp>
      <p:sp>
        <p:nvSpPr>
          <p:cNvPr id="17" name="TextBox 16"/>
          <p:cNvSpPr txBox="1"/>
          <p:nvPr/>
        </p:nvSpPr>
        <p:spPr>
          <a:xfrm>
            <a:off x="2743200" y="2706624"/>
            <a:ext cx="3383280" cy="411480"/>
          </a:xfrm>
          <a:prstGeom prst="rect">
            <a:avLst/>
          </a:prstGeom>
          <a:noFill/>
        </p:spPr>
        <p:txBody>
          <a:bodyPr wrap="square" lIns="0" rIns="0" tIns="0" bIns="0">
            <a:spAutoFit/>
          </a:bodyPr>
          <a:lstStyle/>
          <a:p>
            <a:pPr>
              <a:spcAft>
                <a:spcPts val="600"/>
              </a:spcAft>
            </a:pPr>
            <a:r>
              <a:rPr sz="1700" b="0">
                <a:solidFill>
                  <a:srgbClr val="21201C"/>
                </a:solidFill>
                <a:latin typeface="Calibri"/>
              </a:rPr>
              <a:t>BAK-101</a:t>
            </a:r>
          </a:p>
        </p:txBody>
      </p:sp>
      <p:sp>
        <p:nvSpPr>
          <p:cNvPr id="18" name="Rounded Rectangle 17"/>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rename the academy or add a cafe course to make the scenario appear more complete.</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1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Checkpoint: one source of truth</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21</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At the first checkpoint, a learner should have a campaign brief, selected course record, claim ledger and list of unknowns.</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Brief</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Audience + objective</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Ledger</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Field-level evidence</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Handoff</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Same code everywhere</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proceed with conflicting course codes across the brief and ledger.</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The supplied checkpoint chooses BAK-101 and keeps discounts, real registration links and remaining seats UNKNOWN. Later assets inherit that boundary.</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LAB OVERVIEW · 45 MINUTES</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F3EFE7"/>
                </a:solidFill>
                <a:latin typeface="Cambria"/>
              </a:rPr>
              <a:t>Lab 01 · Create a grounded campaign brief</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A39E92"/>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A39E92"/>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A39E92"/>
                </a:solidFill>
                <a:latin typeface="Calibri"/>
              </a:rPr>
              <a:t>22</a:t>
            </a:r>
          </a:p>
        </p:txBody>
      </p:sp>
      <p:sp>
        <p:nvSpPr>
          <p:cNvPr id="7" name="TextBox 6"/>
          <p:cNvSpPr txBox="1"/>
          <p:nvPr/>
        </p:nvSpPr>
        <p:spPr>
          <a:xfrm>
            <a:off x="594360" y="1828800"/>
            <a:ext cx="10789920" cy="594360"/>
          </a:xfrm>
          <a:prstGeom prst="rect">
            <a:avLst/>
          </a:prstGeom>
          <a:noFill/>
        </p:spPr>
        <p:txBody>
          <a:bodyPr wrap="square" lIns="0" rIns="0" tIns="0" bIns="0">
            <a:spAutoFit/>
          </a:bodyPr>
          <a:lstStyle/>
          <a:p>
            <a:pPr>
              <a:spcAft>
                <a:spcPts val="600"/>
              </a:spcAft>
            </a:pPr>
            <a:r>
              <a:rPr sz="2300" b="0">
                <a:solidFill>
                  <a:srgbClr val="F3EFE7"/>
                </a:solidFill>
                <a:latin typeface="Calibri"/>
              </a:rPr>
              <a:t>Produce a source-checked campaign brief for one bakery course.</a:t>
            </a:r>
          </a:p>
        </p:txBody>
      </p:sp>
      <p:sp>
        <p:nvSpPr>
          <p:cNvPr id="8" name="Rounded Rectangle 7"/>
          <p:cNvSpPr/>
          <p:nvPr/>
        </p:nvSpPr>
        <p:spPr>
          <a:xfrm>
            <a:off x="594360"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What you’ll build</a:t>
            </a:r>
          </a:p>
        </p:txBody>
      </p:sp>
      <p:sp>
        <p:nvSpPr>
          <p:cNvPr id="12" name="TextBox 11"/>
          <p:cNvSpPr txBox="1"/>
          <p:nvPr/>
        </p:nvSpPr>
        <p:spPr>
          <a:xfrm>
            <a:off x="822960"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campaign/brief.md, campaign/selected-course.json, campaign/claim-ledger.csv and campaign/unknowns.md</a:t>
            </a:r>
          </a:p>
        </p:txBody>
      </p:sp>
      <p:sp>
        <p:nvSpPr>
          <p:cNvPr id="13" name="Rounded Rectangle 12"/>
          <p:cNvSpPr/>
          <p:nvPr/>
        </p:nvSpPr>
        <p:spPr>
          <a:xfrm>
            <a:off x="4337304"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Why it matters</a:t>
            </a:r>
          </a:p>
        </p:txBody>
      </p:sp>
      <p:sp>
        <p:nvSpPr>
          <p:cNvPr id="17" name="TextBox 16"/>
          <p:cNvSpPr txBox="1"/>
          <p:nvPr/>
        </p:nvSpPr>
        <p:spPr>
          <a:xfrm>
            <a:off x="4565904"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Apply chatgpt work and a grounded brief to the same source-checked campaign.</a:t>
            </a:r>
          </a:p>
        </p:txBody>
      </p:sp>
      <p:sp>
        <p:nvSpPr>
          <p:cNvPr id="18" name="Rounded Rectangle 17"/>
          <p:cNvSpPr/>
          <p:nvPr/>
        </p:nvSpPr>
        <p:spPr>
          <a:xfrm>
            <a:off x="8080248"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Finished evidence</a:t>
            </a:r>
          </a:p>
        </p:txBody>
      </p:sp>
      <p:sp>
        <p:nvSpPr>
          <p:cNvPr id="22" name="TextBox 21"/>
          <p:cNvSpPr txBox="1"/>
          <p:nvPr/>
        </p:nvSpPr>
        <p:spPr>
          <a:xfrm>
            <a:off x="8308848"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Open the files and compare the required facts and checks in the lab guide.</a:t>
            </a:r>
          </a:p>
        </p:txBody>
      </p:sp>
      <p:sp>
        <p:nvSpPr>
          <p:cNvPr id="23" name="Rounded Rectangle 22"/>
          <p:cNvSpPr/>
          <p:nvPr/>
        </p:nvSpPr>
        <p:spPr>
          <a:xfrm>
            <a:off x="594360" y="5806440"/>
            <a:ext cx="10991088" cy="438912"/>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F3EFE7"/>
                </a:solidFill>
                <a:latin typeface="Calibri"/>
              </a:rPr>
              <a:t>Detailed procedure: labs/lab-01-grounded-campaign-brief/README.md</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LAB OVERVIEW · 50 MINUTES</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F3EFE7"/>
                </a:solidFill>
                <a:latin typeface="Cambria"/>
              </a:rPr>
              <a:t>Lab 02 · Build a reusable marketing workflow</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A39E92"/>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A39E92"/>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A39E92"/>
                </a:solidFill>
                <a:latin typeface="Calibri"/>
              </a:rPr>
              <a:t>23</a:t>
            </a:r>
          </a:p>
        </p:txBody>
      </p:sp>
      <p:sp>
        <p:nvSpPr>
          <p:cNvPr id="7" name="TextBox 6"/>
          <p:cNvSpPr txBox="1"/>
          <p:nvPr/>
        </p:nvSpPr>
        <p:spPr>
          <a:xfrm>
            <a:off x="594360" y="1828800"/>
            <a:ext cx="10789920" cy="594360"/>
          </a:xfrm>
          <a:prstGeom prst="rect">
            <a:avLst/>
          </a:prstGeom>
          <a:noFill/>
        </p:spPr>
        <p:txBody>
          <a:bodyPr wrap="square" lIns="0" rIns="0" tIns="0" bIns="0">
            <a:spAutoFit/>
          </a:bodyPr>
          <a:lstStyle/>
          <a:p>
            <a:pPr>
              <a:spcAft>
                <a:spcPts val="600"/>
              </a:spcAft>
            </a:pPr>
            <a:r>
              <a:rPr sz="2300" b="0">
                <a:solidFill>
                  <a:srgbClr val="F3EFE7"/>
                </a:solidFill>
                <a:latin typeface="Calibri"/>
              </a:rPr>
              <a:t>Create and trial a source-grounded production playbook for the campaign.</a:t>
            </a:r>
          </a:p>
        </p:txBody>
      </p:sp>
      <p:sp>
        <p:nvSpPr>
          <p:cNvPr id="8" name="Rounded Rectangle 7"/>
          <p:cNvSpPr/>
          <p:nvPr/>
        </p:nvSpPr>
        <p:spPr>
          <a:xfrm>
            <a:off x="594360"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What you’ll build</a:t>
            </a:r>
          </a:p>
        </p:txBody>
      </p:sp>
      <p:sp>
        <p:nvSpPr>
          <p:cNvPr id="12" name="TextBox 11"/>
          <p:cNvSpPr txBox="1"/>
          <p:nvPr/>
        </p:nvSpPr>
        <p:spPr>
          <a:xfrm>
            <a:off x="822960"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campaign/workflow.md, campaign/brand-check.md and campaign/workflow-trial.md</a:t>
            </a:r>
          </a:p>
        </p:txBody>
      </p:sp>
      <p:sp>
        <p:nvSpPr>
          <p:cNvPr id="13" name="Rounded Rectangle 12"/>
          <p:cNvSpPr/>
          <p:nvPr/>
        </p:nvSpPr>
        <p:spPr>
          <a:xfrm>
            <a:off x="4337304"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Why it matters</a:t>
            </a:r>
          </a:p>
        </p:txBody>
      </p:sp>
      <p:sp>
        <p:nvSpPr>
          <p:cNvPr id="17" name="TextBox 16"/>
          <p:cNvSpPr txBox="1"/>
          <p:nvPr/>
        </p:nvSpPr>
        <p:spPr>
          <a:xfrm>
            <a:off x="4565904"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Apply chatgpt work and a grounded brief to the same source-checked campaign.</a:t>
            </a:r>
          </a:p>
        </p:txBody>
      </p:sp>
      <p:sp>
        <p:nvSpPr>
          <p:cNvPr id="18" name="Rounded Rectangle 17"/>
          <p:cNvSpPr/>
          <p:nvPr/>
        </p:nvSpPr>
        <p:spPr>
          <a:xfrm>
            <a:off x="8080248"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Finished evidence</a:t>
            </a:r>
          </a:p>
        </p:txBody>
      </p:sp>
      <p:sp>
        <p:nvSpPr>
          <p:cNvPr id="22" name="TextBox 21"/>
          <p:cNvSpPr txBox="1"/>
          <p:nvPr/>
        </p:nvSpPr>
        <p:spPr>
          <a:xfrm>
            <a:off x="8308848"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Open the files and compare the required facts and checks in the lab guide.</a:t>
            </a:r>
          </a:p>
        </p:txBody>
      </p:sp>
      <p:sp>
        <p:nvSpPr>
          <p:cNvPr id="23" name="Rounded Rectangle 22"/>
          <p:cNvSpPr/>
          <p:nvPr/>
        </p:nvSpPr>
        <p:spPr>
          <a:xfrm>
            <a:off x="594360" y="5806440"/>
            <a:ext cx="10991088" cy="438912"/>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F3EFE7"/>
                </a:solidFill>
                <a:latin typeface="Calibri"/>
              </a:rPr>
              <a:t>Detailed procedure: labs/lab-02-reusable-marketing-workflow/README.md</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RECAP · LO1</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Topic 1 recap</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24</a:t>
            </a:r>
          </a:p>
        </p:txBody>
      </p:sp>
      <p:sp>
        <p:nvSpPr>
          <p:cNvPr id="7" name="Rounded Rectangle 6"/>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0" name="TextBox 9"/>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Explain</a:t>
            </a:r>
          </a:p>
        </p:txBody>
      </p:sp>
      <p:sp>
        <p:nvSpPr>
          <p:cNvPr id="11" name="TextBox 10"/>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From conversation to finished work. Explain why it matters to the campaign.</a:t>
            </a:r>
          </a:p>
        </p:txBody>
      </p:sp>
      <p:sp>
        <p:nvSpPr>
          <p:cNvPr id="12" name="Rounded Rectangle 11"/>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5" name="TextBox 14"/>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Show</a:t>
            </a:r>
          </a:p>
        </p:txBody>
      </p:sp>
      <p:sp>
        <p:nvSpPr>
          <p:cNvPr id="16" name="TextBox 15"/>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Open the current lab outputs and identify the evidence that supports their facts.</a:t>
            </a:r>
          </a:p>
        </p:txBody>
      </p:sp>
      <p:sp>
        <p:nvSpPr>
          <p:cNvPr id="17" name="Rounded Rectangle 16"/>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0" name="TextBox 19"/>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Improve</a:t>
            </a:r>
          </a:p>
        </p:txBody>
      </p:sp>
      <p:sp>
        <p:nvSpPr>
          <p:cNvPr id="21" name="TextBox 20"/>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Name one correction and the next check another marketer can reproduce.</a:t>
            </a:r>
          </a:p>
        </p:txBody>
      </p:sp>
      <p:sp>
        <p:nvSpPr>
          <p:cNvPr id="22" name="Rounded Rectangle 21"/>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LO1: Delegate a grounded marketing task in ChatGPT Work and maintain a source-checked campaign brief.</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2 · LO2</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F3EFE7"/>
                </a:solidFill>
                <a:latin typeface="Cambria"/>
              </a:rPr>
              <a:t>Flyer design and visual review</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A39E92"/>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A39E92"/>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A39E92"/>
                </a:solidFill>
                <a:latin typeface="Calibri"/>
              </a:rPr>
              <a:t>25</a:t>
            </a:r>
          </a:p>
        </p:txBody>
      </p:sp>
      <p:sp>
        <p:nvSpPr>
          <p:cNvPr id="7" name="Oval 6"/>
          <p:cNvSpPr/>
          <p:nvPr/>
        </p:nvSpPr>
        <p:spPr>
          <a:xfrm>
            <a:off x="9601200" y="4389120"/>
            <a:ext cx="3657600" cy="3657600"/>
          </a:xfrm>
          <a:prstGeom prst="ellipse">
            <a:avLst/>
          </a:prstGeom>
          <a:solidFill>
            <a:srgbClr val="3F2D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286000"/>
            <a:ext cx="9875520" cy="1005840"/>
          </a:xfrm>
          <a:prstGeom prst="rect">
            <a:avLst/>
          </a:prstGeom>
          <a:noFill/>
        </p:spPr>
        <p:txBody>
          <a:bodyPr wrap="square" lIns="0" rIns="0" tIns="0" bIns="0">
            <a:spAutoFit/>
          </a:bodyPr>
          <a:lstStyle/>
          <a:p>
            <a:pPr>
              <a:spcAft>
                <a:spcPts val="600"/>
              </a:spcAft>
            </a:pPr>
            <a:r>
              <a:rPr sz="2500" b="0">
                <a:solidFill>
                  <a:srgbClr val="F3EFE7"/>
                </a:solidFill>
                <a:latin typeface="Calibri"/>
              </a:rPr>
              <a:t>Hierarchy · evidence · editable typography</a:t>
            </a:r>
          </a:p>
        </p:txBody>
      </p:sp>
      <p:sp>
        <p:nvSpPr>
          <p:cNvPr id="9" name="TextBox 8"/>
          <p:cNvSpPr txBox="1"/>
          <p:nvPr/>
        </p:nvSpPr>
        <p:spPr>
          <a:xfrm>
            <a:off x="594360" y="4069080"/>
            <a:ext cx="9875520" cy="914400"/>
          </a:xfrm>
          <a:prstGeom prst="rect">
            <a:avLst/>
          </a:prstGeom>
          <a:noFill/>
        </p:spPr>
        <p:txBody>
          <a:bodyPr wrap="square" lIns="0" rIns="0" tIns="0" bIns="0">
            <a:spAutoFit/>
          </a:bodyPr>
          <a:lstStyle/>
          <a:p>
            <a:pPr>
              <a:spcAft>
                <a:spcPts val="600"/>
              </a:spcAft>
            </a:pPr>
            <a:r>
              <a:rPr sz="2500" b="0">
                <a:solidFill>
                  <a:srgbClr val="F3EFE7"/>
                </a:solidFill>
                <a:latin typeface="Cambria"/>
              </a:rPr>
              <a:t>Understand the model. Apply it to the academy. Verify the saved result.</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2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Design begins with a single job</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26</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 flyer has a small amount of attention to earn.</a:t>
            </a:r>
          </a:p>
        </p:txBody>
      </p:sp>
      <p:sp>
        <p:nvSpPr>
          <p:cNvPr id="8" name="Rounded Rectangle 7"/>
          <p:cNvSpPr/>
          <p:nvPr/>
        </p:nvSpPr>
        <p:spPr>
          <a:xfrm>
            <a:off x="594360"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1</a:t>
            </a:r>
          </a:p>
        </p:txBody>
      </p:sp>
      <p:sp>
        <p:nvSpPr>
          <p:cNvPr id="11" name="TextBox 10"/>
          <p:cNvSpPr txBox="1"/>
          <p:nvPr/>
        </p:nvSpPr>
        <p:spPr>
          <a:xfrm>
            <a:off x="1371600"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Headline</a:t>
            </a:r>
          </a:p>
        </p:txBody>
      </p:sp>
      <p:sp>
        <p:nvSpPr>
          <p:cNvPr id="12" name="TextBox 11"/>
          <p:cNvSpPr txBox="1"/>
          <p:nvPr/>
        </p:nvSpPr>
        <p:spPr>
          <a:xfrm>
            <a:off x="813816"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Learning benefit</a:t>
            </a:r>
          </a:p>
        </p:txBody>
      </p:sp>
      <p:sp>
        <p:nvSpPr>
          <p:cNvPr id="13" name="Right Arrow 12"/>
          <p:cNvSpPr/>
          <p:nvPr/>
        </p:nvSpPr>
        <p:spPr>
          <a:xfrm>
            <a:off x="4023359"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98264"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62856"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6"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2</a:t>
            </a:r>
          </a:p>
        </p:txBody>
      </p:sp>
      <p:sp>
        <p:nvSpPr>
          <p:cNvPr id="17" name="TextBox 16"/>
          <p:cNvSpPr txBox="1"/>
          <p:nvPr/>
        </p:nvSpPr>
        <p:spPr>
          <a:xfrm>
            <a:off x="5175504"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Evidence</a:t>
            </a:r>
          </a:p>
        </p:txBody>
      </p:sp>
      <p:sp>
        <p:nvSpPr>
          <p:cNvPr id="18" name="TextBox 17"/>
          <p:cNvSpPr txBox="1"/>
          <p:nvPr/>
        </p:nvSpPr>
        <p:spPr>
          <a:xfrm>
            <a:off x="4617720"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Offer facts</a:t>
            </a:r>
          </a:p>
        </p:txBody>
      </p:sp>
      <p:sp>
        <p:nvSpPr>
          <p:cNvPr id="19" name="Right Arrow 18"/>
          <p:cNvSpPr/>
          <p:nvPr/>
        </p:nvSpPr>
        <p:spPr>
          <a:xfrm>
            <a:off x="7827264"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02168"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66760"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3</a:t>
            </a:r>
          </a:p>
        </p:txBody>
      </p:sp>
      <p:sp>
        <p:nvSpPr>
          <p:cNvPr id="23" name="TextBox 22"/>
          <p:cNvSpPr txBox="1"/>
          <p:nvPr/>
        </p:nvSpPr>
        <p:spPr>
          <a:xfrm>
            <a:off x="8979408"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CTA</a:t>
            </a:r>
          </a:p>
        </p:txBody>
      </p:sp>
      <p:sp>
        <p:nvSpPr>
          <p:cNvPr id="24" name="TextBox 23"/>
          <p:cNvSpPr txBox="1"/>
          <p:nvPr/>
        </p:nvSpPr>
        <p:spPr>
          <a:xfrm>
            <a:off x="8421624"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Next action</a:t>
            </a:r>
          </a:p>
        </p:txBody>
      </p:sp>
      <p:sp>
        <p:nvSpPr>
          <p:cNvPr id="25" name="Rounded Rectangle 24"/>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combine three courses, two offers and several competing CTAs in the first flyer.</a:t>
            </a:r>
          </a:p>
        </p:txBody>
      </p:sp>
      <p:sp>
        <p:nvSpPr>
          <p:cNvPr id="27" name="TextBox 26"/>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For BAK-101, the main benefit is learning to manage a starter and bake loaves. Four weeks, fee and schedule are supporting facts. The CTA points to course details in the demo catalogue.</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2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Visual hierarchy controls reading</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27</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Hierarchy uses size, placement and contrast to establish reading order.</a:t>
            </a:r>
          </a:p>
        </p:txBody>
      </p:sp>
      <p:pic>
        <p:nvPicPr>
          <p:cNvPr id="8" name="Picture 7" descr="flyer-a5.png"/>
          <p:cNvPicPr>
            <a:picLocks noChangeAspect="1"/>
          </p:cNvPicPr>
          <p:nvPr/>
        </p:nvPicPr>
        <p:blipFill>
          <a:blip r:embed="rId2"/>
          <a:stretch>
            <a:fillRect/>
          </a:stretch>
        </p:blipFill>
        <p:spPr>
          <a:xfrm>
            <a:off x="8016026" y="2331720"/>
            <a:ext cx="2255946" cy="3200400"/>
          </a:xfrm>
          <a:prstGeom prst="rect">
            <a:avLst/>
          </a:prstGeom>
        </p:spPr>
      </p:pic>
      <p:sp>
        <p:nvSpPr>
          <p:cNvPr id="9" name="Rounded Rectangle 8"/>
          <p:cNvSpPr/>
          <p:nvPr/>
        </p:nvSpPr>
        <p:spPr>
          <a:xfrm>
            <a:off x="594360" y="2560320"/>
            <a:ext cx="585216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79192"/>
            <a:ext cx="1828800" cy="411480"/>
          </a:xfrm>
          <a:prstGeom prst="rect">
            <a:avLst/>
          </a:prstGeom>
          <a:noFill/>
        </p:spPr>
        <p:txBody>
          <a:bodyPr wrap="square" lIns="0" rIns="0" tIns="0" bIns="0">
            <a:spAutoFit/>
          </a:bodyPr>
          <a:lstStyle/>
          <a:p>
            <a:pPr>
              <a:spcAft>
                <a:spcPts val="600"/>
              </a:spcAft>
            </a:pPr>
            <a:r>
              <a:rPr sz="1800" b="1">
                <a:solidFill>
                  <a:srgbClr val="3A7D7B"/>
                </a:solidFill>
                <a:latin typeface="Cambria"/>
              </a:rPr>
              <a:t>First</a:t>
            </a:r>
          </a:p>
        </p:txBody>
      </p:sp>
      <p:sp>
        <p:nvSpPr>
          <p:cNvPr id="11" name="TextBox 10"/>
          <p:cNvSpPr txBox="1"/>
          <p:nvPr/>
        </p:nvSpPr>
        <p:spPr>
          <a:xfrm>
            <a:off x="2743200" y="2706624"/>
            <a:ext cx="3383280" cy="411480"/>
          </a:xfrm>
          <a:prstGeom prst="rect">
            <a:avLst/>
          </a:prstGeom>
          <a:noFill/>
        </p:spPr>
        <p:txBody>
          <a:bodyPr wrap="square" lIns="0" rIns="0" tIns="0" bIns="0">
            <a:spAutoFit/>
          </a:bodyPr>
          <a:lstStyle/>
          <a:p>
            <a:pPr>
              <a:spcAft>
                <a:spcPts val="600"/>
              </a:spcAft>
            </a:pPr>
            <a:r>
              <a:rPr sz="1700" b="0">
                <a:solidFill>
                  <a:srgbClr val="21201C"/>
                </a:solidFill>
                <a:latin typeface="Calibri"/>
              </a:rPr>
              <a:t>Benefit headline</a:t>
            </a:r>
          </a:p>
        </p:txBody>
      </p:sp>
      <p:sp>
        <p:nvSpPr>
          <p:cNvPr id="12" name="Rounded Rectangle 11"/>
          <p:cNvSpPr/>
          <p:nvPr/>
        </p:nvSpPr>
        <p:spPr>
          <a:xfrm>
            <a:off x="594360" y="3520439"/>
            <a:ext cx="585216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679192"/>
            <a:ext cx="1828800" cy="411480"/>
          </a:xfrm>
          <a:prstGeom prst="rect">
            <a:avLst/>
          </a:prstGeom>
          <a:noFill/>
        </p:spPr>
        <p:txBody>
          <a:bodyPr wrap="square" lIns="0" rIns="0" tIns="0" bIns="0">
            <a:spAutoFit/>
          </a:bodyPr>
          <a:lstStyle/>
          <a:p>
            <a:pPr>
              <a:spcAft>
                <a:spcPts val="600"/>
              </a:spcAft>
            </a:pPr>
            <a:r>
              <a:rPr sz="1800" b="1">
                <a:solidFill>
                  <a:srgbClr val="3A7D7B"/>
                </a:solidFill>
                <a:latin typeface="Cambria"/>
              </a:rPr>
              <a:t>Second</a:t>
            </a:r>
          </a:p>
        </p:txBody>
      </p:sp>
      <p:sp>
        <p:nvSpPr>
          <p:cNvPr id="14" name="TextBox 13"/>
          <p:cNvSpPr txBox="1"/>
          <p:nvPr/>
        </p:nvSpPr>
        <p:spPr>
          <a:xfrm>
            <a:off x="2743200" y="2706624"/>
            <a:ext cx="3383280" cy="411480"/>
          </a:xfrm>
          <a:prstGeom prst="rect">
            <a:avLst/>
          </a:prstGeom>
          <a:noFill/>
        </p:spPr>
        <p:txBody>
          <a:bodyPr wrap="square" lIns="0" rIns="0" tIns="0" bIns="0">
            <a:spAutoFit/>
          </a:bodyPr>
          <a:lstStyle/>
          <a:p>
            <a:pPr>
              <a:spcAft>
                <a:spcPts val="600"/>
              </a:spcAft>
            </a:pPr>
            <a:r>
              <a:rPr sz="1700" b="0">
                <a:solidFill>
                  <a:srgbClr val="21201C"/>
                </a:solidFill>
                <a:latin typeface="Calibri"/>
              </a:rPr>
              <a:t>Course details</a:t>
            </a:r>
          </a:p>
        </p:txBody>
      </p:sp>
      <p:sp>
        <p:nvSpPr>
          <p:cNvPr id="15" name="Rounded Rectangle 14"/>
          <p:cNvSpPr/>
          <p:nvPr/>
        </p:nvSpPr>
        <p:spPr>
          <a:xfrm>
            <a:off x="594360" y="4480560"/>
            <a:ext cx="585216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679192"/>
            <a:ext cx="1828800" cy="411480"/>
          </a:xfrm>
          <a:prstGeom prst="rect">
            <a:avLst/>
          </a:prstGeom>
          <a:noFill/>
        </p:spPr>
        <p:txBody>
          <a:bodyPr wrap="square" lIns="0" rIns="0" tIns="0" bIns="0">
            <a:spAutoFit/>
          </a:bodyPr>
          <a:lstStyle/>
          <a:p>
            <a:pPr>
              <a:spcAft>
                <a:spcPts val="600"/>
              </a:spcAft>
            </a:pPr>
            <a:r>
              <a:rPr sz="1800" b="1">
                <a:solidFill>
                  <a:srgbClr val="3A7D7B"/>
                </a:solidFill>
                <a:latin typeface="Cambria"/>
              </a:rPr>
              <a:t>Third</a:t>
            </a:r>
          </a:p>
        </p:txBody>
      </p:sp>
      <p:sp>
        <p:nvSpPr>
          <p:cNvPr id="17" name="TextBox 16"/>
          <p:cNvSpPr txBox="1"/>
          <p:nvPr/>
        </p:nvSpPr>
        <p:spPr>
          <a:xfrm>
            <a:off x="2743200" y="2706624"/>
            <a:ext cx="3383280" cy="411480"/>
          </a:xfrm>
          <a:prstGeom prst="rect">
            <a:avLst/>
          </a:prstGeom>
          <a:noFill/>
        </p:spPr>
        <p:txBody>
          <a:bodyPr wrap="square" lIns="0" rIns="0" tIns="0" bIns="0">
            <a:spAutoFit/>
          </a:bodyPr>
          <a:lstStyle/>
          <a:p>
            <a:pPr>
              <a:spcAft>
                <a:spcPts val="600"/>
              </a:spcAft>
            </a:pPr>
            <a:r>
              <a:rPr sz="1700" b="0">
                <a:solidFill>
                  <a:srgbClr val="21201C"/>
                </a:solidFill>
                <a:latin typeface="Calibri"/>
              </a:rPr>
              <a:t>CTA + context</a:t>
            </a:r>
          </a:p>
        </p:txBody>
      </p:sp>
      <p:sp>
        <p:nvSpPr>
          <p:cNvPr id="18" name="Rounded Rectangle 17"/>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If every line is bold and large, the eye has no route through the page.</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2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Brand system versus deck theme</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28</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The trainer deck follows the supplied terracotta, charcoal and cream reference theme.</a:t>
            </a:r>
          </a:p>
        </p:txBody>
      </p:sp>
      <p:sp>
        <p:nvSpPr>
          <p:cNvPr id="8" name="Rounded Rectangle 7"/>
          <p:cNvSpPr/>
          <p:nvPr/>
        </p:nvSpPr>
        <p:spPr>
          <a:xfrm>
            <a:off x="594360" y="2743200"/>
            <a:ext cx="2560320" cy="1280160"/>
          </a:xfrm>
          <a:prstGeom prst="roundRect">
            <a:avLst/>
          </a:prstGeom>
          <a:solidFill>
            <a:srgbClr val="B56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4251960"/>
            <a:ext cx="2560320" cy="731520"/>
          </a:xfrm>
          <a:prstGeom prst="rect">
            <a:avLst/>
          </a:prstGeom>
          <a:noFill/>
        </p:spPr>
        <p:txBody>
          <a:bodyPr wrap="square" lIns="0" rIns="0" tIns="0" bIns="0">
            <a:spAutoFit/>
          </a:bodyPr>
          <a:lstStyle/>
          <a:p>
            <a:pPr>
              <a:spcAft>
                <a:spcPts val="600"/>
              </a:spcAft>
            </a:pPr>
            <a:r>
              <a:rPr sz="2000" b="1">
                <a:solidFill>
                  <a:srgbClr val="21201C"/>
                </a:solidFill>
                <a:latin typeface="Cambria"/>
              </a:rPr>
              <a:t>Crust</a:t>
            </a:r>
          </a:p>
          <a:p>
            <a:pPr>
              <a:spcAft>
                <a:spcPts val="600"/>
              </a:spcAft>
            </a:pPr>
            <a:r>
              <a:rPr sz="2000" b="1">
                <a:solidFill>
                  <a:srgbClr val="21201C"/>
                </a:solidFill>
                <a:latin typeface="Cambria"/>
              </a:rPr>
              <a:t>#B5652D</a:t>
            </a:r>
          </a:p>
        </p:txBody>
      </p:sp>
      <p:sp>
        <p:nvSpPr>
          <p:cNvPr id="10" name="Rounded Rectangle 9"/>
          <p:cNvSpPr/>
          <p:nvPr/>
        </p:nvSpPr>
        <p:spPr>
          <a:xfrm>
            <a:off x="3383279" y="2743200"/>
            <a:ext cx="2560320" cy="1280160"/>
          </a:xfrm>
          <a:prstGeom prst="roundRect">
            <a:avLst/>
          </a:prstGeom>
          <a:solidFill>
            <a:srgbClr val="2B21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79" y="4251960"/>
            <a:ext cx="2560320" cy="731520"/>
          </a:xfrm>
          <a:prstGeom prst="rect">
            <a:avLst/>
          </a:prstGeom>
          <a:noFill/>
        </p:spPr>
        <p:txBody>
          <a:bodyPr wrap="square" lIns="0" rIns="0" tIns="0" bIns="0">
            <a:spAutoFit/>
          </a:bodyPr>
          <a:lstStyle/>
          <a:p>
            <a:pPr>
              <a:spcAft>
                <a:spcPts val="600"/>
              </a:spcAft>
            </a:pPr>
            <a:r>
              <a:rPr sz="2000" b="1">
                <a:solidFill>
                  <a:srgbClr val="21201C"/>
                </a:solidFill>
                <a:latin typeface="Cambria"/>
              </a:rPr>
              <a:t>Ink</a:t>
            </a:r>
          </a:p>
          <a:p>
            <a:pPr>
              <a:spcAft>
                <a:spcPts val="600"/>
              </a:spcAft>
            </a:pPr>
            <a:r>
              <a:rPr sz="2000" b="1">
                <a:solidFill>
                  <a:srgbClr val="21201C"/>
                </a:solidFill>
                <a:latin typeface="Cambria"/>
              </a:rPr>
              <a:t>#2B211B</a:t>
            </a:r>
          </a:p>
        </p:txBody>
      </p:sp>
      <p:sp>
        <p:nvSpPr>
          <p:cNvPr id="12" name="Rounded Rectangle 11"/>
          <p:cNvSpPr/>
          <p:nvPr/>
        </p:nvSpPr>
        <p:spPr>
          <a:xfrm>
            <a:off x="6172200" y="2743200"/>
            <a:ext cx="2560320" cy="1280160"/>
          </a:xfrm>
          <a:prstGeom prst="roundRect">
            <a:avLst/>
          </a:prstGeom>
          <a:solidFill>
            <a:srgbClr val="FB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4251960"/>
            <a:ext cx="2560320" cy="731520"/>
          </a:xfrm>
          <a:prstGeom prst="rect">
            <a:avLst/>
          </a:prstGeom>
          <a:noFill/>
        </p:spPr>
        <p:txBody>
          <a:bodyPr wrap="square" lIns="0" rIns="0" tIns="0" bIns="0">
            <a:spAutoFit/>
          </a:bodyPr>
          <a:lstStyle/>
          <a:p>
            <a:pPr>
              <a:spcAft>
                <a:spcPts val="600"/>
              </a:spcAft>
            </a:pPr>
            <a:r>
              <a:rPr sz="2000" b="1">
                <a:solidFill>
                  <a:srgbClr val="21201C"/>
                </a:solidFill>
                <a:latin typeface="Cambria"/>
              </a:rPr>
              <a:t>Cream</a:t>
            </a:r>
          </a:p>
          <a:p>
            <a:pPr>
              <a:spcAft>
                <a:spcPts val="600"/>
              </a:spcAft>
            </a:pPr>
            <a:r>
              <a:rPr sz="2000" b="1">
                <a:solidFill>
                  <a:srgbClr val="21201C"/>
                </a:solidFill>
                <a:latin typeface="Cambria"/>
              </a:rPr>
              <a:t>#FBF7F1</a:t>
            </a:r>
          </a:p>
        </p:txBody>
      </p:sp>
      <p:sp>
        <p:nvSpPr>
          <p:cNvPr id="14" name="Rounded Rectangle 13"/>
          <p:cNvSpPr/>
          <p:nvPr/>
        </p:nvSpPr>
        <p:spPr>
          <a:xfrm>
            <a:off x="8961119" y="2743200"/>
            <a:ext cx="2560320" cy="1280160"/>
          </a:xfrm>
          <a:prstGeom prst="roundRect">
            <a:avLst/>
          </a:prstGeom>
          <a:solidFill>
            <a:srgbClr val="3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19" y="4251960"/>
            <a:ext cx="2560320" cy="731520"/>
          </a:xfrm>
          <a:prstGeom prst="rect">
            <a:avLst/>
          </a:prstGeom>
          <a:noFill/>
        </p:spPr>
        <p:txBody>
          <a:bodyPr wrap="square" lIns="0" rIns="0" tIns="0" bIns="0">
            <a:spAutoFit/>
          </a:bodyPr>
          <a:lstStyle/>
          <a:p>
            <a:pPr>
              <a:spcAft>
                <a:spcPts val="600"/>
              </a:spcAft>
            </a:pPr>
            <a:r>
              <a:rPr sz="2000" b="1">
                <a:solidFill>
                  <a:srgbClr val="21201C"/>
                </a:solidFill>
                <a:latin typeface="Cambria"/>
              </a:rPr>
              <a:t>Basil</a:t>
            </a:r>
          </a:p>
          <a:p>
            <a:pPr>
              <a:spcAft>
                <a:spcPts val="600"/>
              </a:spcAft>
            </a:pPr>
            <a:r>
              <a:rPr sz="2000" b="1">
                <a:solidFill>
                  <a:srgbClr val="21201C"/>
                </a:solidFill>
                <a:latin typeface="Cambria"/>
              </a:rPr>
              <a:t>#3F6B4A</a:t>
            </a:r>
          </a:p>
        </p:txBody>
      </p:sp>
      <p:sp>
        <p:nvSpPr>
          <p:cNvPr id="16" name="Rounded Rectangle 15"/>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copy the trainer-slide palette into the academy campaign simply because it looks similar.</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2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Separate the visual from the copy</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29</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Image generation is useful for food imagery and composition studies.</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Image</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Illustrative food</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Copy</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Editable facts</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Proof</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Every visible word</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use a photorealistic invented chef or classroom as proof of a real trainer or learner.</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Generate a natural-light sourdough still life without lettering, then place the course title, source-checked fee and CTA in editable text boxes.</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2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Format is part of the brief</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30</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Print and screen formats have different viewing conditions.</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A5</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148 × 210 mm</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Square</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1080 × 1080 brief</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Story</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1080 × 1920 brief</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A square screenshot of an A5 flyer is usually a poor social layout.</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The classroom flyer uses a 10 mm safe area. Its square derivative carries the same core facts but reduces secondary copy so the CTA remains readable.</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2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Readable contrast and typography</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31</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Text must remain readable against its background.</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Body text</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4.5:1 screen check</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Large text</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3:1 screen check</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Real size</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Read the proof</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judge contrast from the colour name or from a zoomed-in editor view alone.</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Use dark Ink on Cream for body copy. Avoid fine terracotta lettering over bread texture. Check the CTA at phone size and the print proof at 100 percent.</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2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Every factual line needs a source</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32</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 flyer may contain very few words, but each fee, date and location carries risk of being copied incorrectly.</a:t>
            </a:r>
          </a:p>
        </p:txBody>
      </p:sp>
      <p:sp>
        <p:nvSpPr>
          <p:cNvPr id="8" name="Rectangle 7"/>
          <p:cNvSpPr/>
          <p:nvPr/>
        </p:nvSpPr>
        <p:spPr>
          <a:xfrm>
            <a:off x="594360" y="2697480"/>
            <a:ext cx="210312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807208"/>
            <a:ext cx="1828799" cy="274320"/>
          </a:xfrm>
          <a:prstGeom prst="rect">
            <a:avLst/>
          </a:prstGeom>
          <a:noFill/>
        </p:spPr>
        <p:txBody>
          <a:bodyPr wrap="square" lIns="0" rIns="0" tIns="0" bIns="0">
            <a:spAutoFit/>
          </a:bodyPr>
          <a:lstStyle/>
          <a:p>
            <a:pPr>
              <a:spcAft>
                <a:spcPts val="600"/>
              </a:spcAft>
            </a:pPr>
            <a:r>
              <a:rPr sz="1500" b="1">
                <a:solidFill>
                  <a:srgbClr val="F3EFE7"/>
                </a:solidFill>
                <a:latin typeface="Calibri"/>
              </a:rPr>
              <a:t>Item</a:t>
            </a:r>
          </a:p>
        </p:txBody>
      </p:sp>
      <p:sp>
        <p:nvSpPr>
          <p:cNvPr id="10" name="Rectangle 9"/>
          <p:cNvSpPr/>
          <p:nvPr/>
        </p:nvSpPr>
        <p:spPr>
          <a:xfrm>
            <a:off x="2697480" y="2697480"/>
            <a:ext cx="576072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34640" y="2807208"/>
            <a:ext cx="5486400" cy="274320"/>
          </a:xfrm>
          <a:prstGeom prst="rect">
            <a:avLst/>
          </a:prstGeom>
          <a:noFill/>
        </p:spPr>
        <p:txBody>
          <a:bodyPr wrap="square" lIns="0" rIns="0" tIns="0" bIns="0">
            <a:spAutoFit/>
          </a:bodyPr>
          <a:lstStyle/>
          <a:p>
            <a:pPr>
              <a:spcAft>
                <a:spcPts val="600"/>
              </a:spcAft>
            </a:pPr>
            <a:r>
              <a:rPr sz="1500" b="1">
                <a:solidFill>
                  <a:srgbClr val="F3EFE7"/>
                </a:solidFill>
                <a:latin typeface="Calibri"/>
              </a:rPr>
              <a:t>Evidence / criterion</a:t>
            </a:r>
          </a:p>
        </p:txBody>
      </p:sp>
      <p:sp>
        <p:nvSpPr>
          <p:cNvPr id="12" name="Rectangle 11"/>
          <p:cNvSpPr/>
          <p:nvPr/>
        </p:nvSpPr>
        <p:spPr>
          <a:xfrm>
            <a:off x="8458200" y="2697480"/>
            <a:ext cx="310896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2807208"/>
            <a:ext cx="2834640" cy="274320"/>
          </a:xfrm>
          <a:prstGeom prst="rect">
            <a:avLst/>
          </a:prstGeom>
          <a:noFill/>
        </p:spPr>
        <p:txBody>
          <a:bodyPr wrap="square" lIns="0" rIns="0" tIns="0" bIns="0">
            <a:spAutoFit/>
          </a:bodyPr>
          <a:lstStyle/>
          <a:p>
            <a:pPr>
              <a:spcAft>
                <a:spcPts val="600"/>
              </a:spcAft>
            </a:pPr>
            <a:r>
              <a:rPr sz="1500" b="1">
                <a:solidFill>
                  <a:srgbClr val="F3EFE7"/>
                </a:solidFill>
                <a:latin typeface="Calibri"/>
              </a:rPr>
              <a:t>Decision</a:t>
            </a:r>
          </a:p>
        </p:txBody>
      </p:sp>
      <p:sp>
        <p:nvSpPr>
          <p:cNvPr id="14" name="Rectangle 13"/>
          <p:cNvSpPr/>
          <p:nvPr/>
        </p:nvSpPr>
        <p:spPr>
          <a:xfrm>
            <a:off x="594360" y="3227832"/>
            <a:ext cx="21031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55848"/>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Text proof</a:t>
            </a:r>
          </a:p>
        </p:txBody>
      </p:sp>
      <p:sp>
        <p:nvSpPr>
          <p:cNvPr id="16" name="Rectangle 15"/>
          <p:cNvSpPr/>
          <p:nvPr/>
        </p:nvSpPr>
        <p:spPr>
          <a:xfrm>
            <a:off x="2697480" y="3227832"/>
            <a:ext cx="57607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34640" y="3355848"/>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Visible words</a:t>
            </a:r>
          </a:p>
        </p:txBody>
      </p:sp>
      <p:sp>
        <p:nvSpPr>
          <p:cNvPr id="18" name="Rectangle 17"/>
          <p:cNvSpPr/>
          <p:nvPr/>
        </p:nvSpPr>
        <p:spPr>
          <a:xfrm>
            <a:off x="8458200" y="3227832"/>
            <a:ext cx="310896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3355848"/>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Use</a:t>
            </a:r>
          </a:p>
        </p:txBody>
      </p:sp>
      <p:sp>
        <p:nvSpPr>
          <p:cNvPr id="20" name="Rectangle 19"/>
          <p:cNvSpPr/>
          <p:nvPr/>
        </p:nvSpPr>
        <p:spPr>
          <a:xfrm>
            <a:off x="594360" y="3831335"/>
            <a:ext cx="210312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959352"/>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Ledger</a:t>
            </a:r>
          </a:p>
        </p:txBody>
      </p:sp>
      <p:sp>
        <p:nvSpPr>
          <p:cNvPr id="22" name="Rectangle 21"/>
          <p:cNvSpPr/>
          <p:nvPr/>
        </p:nvSpPr>
        <p:spPr>
          <a:xfrm>
            <a:off x="2697480" y="3831335"/>
            <a:ext cx="576072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34640" y="3959352"/>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Source fields</a:t>
            </a:r>
          </a:p>
        </p:txBody>
      </p:sp>
      <p:sp>
        <p:nvSpPr>
          <p:cNvPr id="24" name="Rectangle 23"/>
          <p:cNvSpPr/>
          <p:nvPr/>
        </p:nvSpPr>
        <p:spPr>
          <a:xfrm>
            <a:off x="8458200" y="3831335"/>
            <a:ext cx="310896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0" y="3959352"/>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Propose</a:t>
            </a:r>
          </a:p>
        </p:txBody>
      </p:sp>
      <p:sp>
        <p:nvSpPr>
          <p:cNvPr id="26" name="Rectangle 25"/>
          <p:cNvSpPr/>
          <p:nvPr/>
        </p:nvSpPr>
        <p:spPr>
          <a:xfrm>
            <a:off x="594360" y="4434840"/>
            <a:ext cx="21031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562856"/>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Revision</a:t>
            </a:r>
          </a:p>
        </p:txBody>
      </p:sp>
      <p:sp>
        <p:nvSpPr>
          <p:cNvPr id="28" name="Rectangle 27"/>
          <p:cNvSpPr/>
          <p:nvPr/>
        </p:nvSpPr>
        <p:spPr>
          <a:xfrm>
            <a:off x="2697480" y="4434840"/>
            <a:ext cx="57607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34640" y="4562856"/>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Named correction</a:t>
            </a:r>
          </a:p>
        </p:txBody>
      </p:sp>
      <p:sp>
        <p:nvSpPr>
          <p:cNvPr id="30" name="Rectangle 29"/>
          <p:cNvSpPr/>
          <p:nvPr/>
        </p:nvSpPr>
        <p:spPr>
          <a:xfrm>
            <a:off x="8458200" y="4434840"/>
            <a:ext cx="310896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0" y="4562856"/>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Check</a:t>
            </a:r>
          </a:p>
        </p:txBody>
      </p:sp>
      <p:sp>
        <p:nvSpPr>
          <p:cNvPr id="32" name="Rounded Rectangle 31"/>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add all-inclusive or guaranteed success unless an approved source supports it.</a:t>
            </a:r>
          </a:p>
        </p:txBody>
      </p:sp>
      <p:sp>
        <p:nvSpPr>
          <p:cNvPr id="34" name="TextBox 33"/>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The phrase four-week course maps to weeks = 4. S$680 maps to fee = 680. Saturday 9:30am–12:30pm maps to when. Tax treatment is UNKNOWN in the fictional catalogue.</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2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Use two routes, then choose</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33</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 route is a different design approach to the same brief, not a random variation in facts.</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Route A</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Finished loaf</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Route B</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Hands at work</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Decision</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Audience + clarity</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Changing the offer between routes makes the comparison meaningless.</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Route A leads with a finished loaf and practical benefit. Route B leads with hands shaping dough. Both carry the same course code, fee, duration and CTA.</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2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Revise with a bounded instruction</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34</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Good feedback says what to change, why and what must remain fixed.</a:t>
            </a:r>
          </a:p>
        </p:txBody>
      </p:sp>
      <p:sp>
        <p:nvSpPr>
          <p:cNvPr id="8" name="Rounded Rectangle 7"/>
          <p:cNvSpPr/>
          <p:nvPr/>
        </p:nvSpPr>
        <p:spPr>
          <a:xfrm>
            <a:off x="594360"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1</a:t>
            </a:r>
          </a:p>
        </p:txBody>
      </p:sp>
      <p:sp>
        <p:nvSpPr>
          <p:cNvPr id="11" name="TextBox 10"/>
          <p:cNvSpPr txBox="1"/>
          <p:nvPr/>
        </p:nvSpPr>
        <p:spPr>
          <a:xfrm>
            <a:off x="1371600"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Change</a:t>
            </a:r>
          </a:p>
        </p:txBody>
      </p:sp>
      <p:sp>
        <p:nvSpPr>
          <p:cNvPr id="12" name="TextBox 11"/>
          <p:cNvSpPr txBox="1"/>
          <p:nvPr/>
        </p:nvSpPr>
        <p:spPr>
          <a:xfrm>
            <a:off x="813816"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One layout issue</a:t>
            </a:r>
          </a:p>
        </p:txBody>
      </p:sp>
      <p:sp>
        <p:nvSpPr>
          <p:cNvPr id="13" name="Right Arrow 12"/>
          <p:cNvSpPr/>
          <p:nvPr/>
        </p:nvSpPr>
        <p:spPr>
          <a:xfrm>
            <a:off x="4023359"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98264"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62856"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6"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2</a:t>
            </a:r>
          </a:p>
        </p:txBody>
      </p:sp>
      <p:sp>
        <p:nvSpPr>
          <p:cNvPr id="17" name="TextBox 16"/>
          <p:cNvSpPr txBox="1"/>
          <p:nvPr/>
        </p:nvSpPr>
        <p:spPr>
          <a:xfrm>
            <a:off x="5175504"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Preserve</a:t>
            </a:r>
          </a:p>
        </p:txBody>
      </p:sp>
      <p:sp>
        <p:nvSpPr>
          <p:cNvPr id="18" name="TextBox 17"/>
          <p:cNvSpPr txBox="1"/>
          <p:nvPr/>
        </p:nvSpPr>
        <p:spPr>
          <a:xfrm>
            <a:off x="4617720"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Verified facts</a:t>
            </a:r>
          </a:p>
        </p:txBody>
      </p:sp>
      <p:sp>
        <p:nvSpPr>
          <p:cNvPr id="19" name="Right Arrow 18"/>
          <p:cNvSpPr/>
          <p:nvPr/>
        </p:nvSpPr>
        <p:spPr>
          <a:xfrm>
            <a:off x="7827264"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02168"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66760"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3</a:t>
            </a:r>
          </a:p>
        </p:txBody>
      </p:sp>
      <p:sp>
        <p:nvSpPr>
          <p:cNvPr id="23" name="TextBox 22"/>
          <p:cNvSpPr txBox="1"/>
          <p:nvPr/>
        </p:nvSpPr>
        <p:spPr>
          <a:xfrm>
            <a:off x="8979408"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Recheck</a:t>
            </a:r>
          </a:p>
        </p:txBody>
      </p:sp>
      <p:sp>
        <p:nvSpPr>
          <p:cNvPr id="24" name="TextBox 23"/>
          <p:cNvSpPr txBox="1"/>
          <p:nvPr/>
        </p:nvSpPr>
        <p:spPr>
          <a:xfrm>
            <a:off x="8421624"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Complete proof</a:t>
            </a:r>
          </a:p>
        </p:txBody>
      </p:sp>
      <p:sp>
        <p:nvSpPr>
          <p:cNvPr id="25" name="Rounded Rectangle 24"/>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accept a corrected date while overlooking a new spelling error elsewhere.</a:t>
            </a:r>
          </a:p>
        </p:txBody>
      </p:sp>
      <p:sp>
        <p:nvSpPr>
          <p:cNvPr id="27" name="TextBox 26"/>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Move the fee to the details panel and increase body text size. Preserve the course title, four-week duration, schedule, brand colours and tagline exactly.</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2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QR codes and links must be real</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35</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 QR code is a navigation mechanism, not decoration.</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Destination</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Verified URL</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Code</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Test by scanning</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Unknown</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Omit or label</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make a placeholder look like a working public booking code.</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The classroom flyer labels its action View course details in the demo catalogue. Its link goes to the provided local preview. No real registration promise is made.</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2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Quality review is a comparison</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36</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 useful review compares the artifact with a specific criterion and records evidence.</a:t>
            </a:r>
          </a:p>
        </p:txBody>
      </p:sp>
      <p:sp>
        <p:nvSpPr>
          <p:cNvPr id="8" name="Rectangle 7"/>
          <p:cNvSpPr/>
          <p:nvPr/>
        </p:nvSpPr>
        <p:spPr>
          <a:xfrm>
            <a:off x="594360" y="2697480"/>
            <a:ext cx="210312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807208"/>
            <a:ext cx="1828799" cy="274320"/>
          </a:xfrm>
          <a:prstGeom prst="rect">
            <a:avLst/>
          </a:prstGeom>
          <a:noFill/>
        </p:spPr>
        <p:txBody>
          <a:bodyPr wrap="square" lIns="0" rIns="0" tIns="0" bIns="0">
            <a:spAutoFit/>
          </a:bodyPr>
          <a:lstStyle/>
          <a:p>
            <a:pPr>
              <a:spcAft>
                <a:spcPts val="600"/>
              </a:spcAft>
            </a:pPr>
            <a:r>
              <a:rPr sz="1500" b="1">
                <a:solidFill>
                  <a:srgbClr val="F3EFE7"/>
                </a:solidFill>
                <a:latin typeface="Calibri"/>
              </a:rPr>
              <a:t>Item</a:t>
            </a:r>
          </a:p>
        </p:txBody>
      </p:sp>
      <p:sp>
        <p:nvSpPr>
          <p:cNvPr id="10" name="Rectangle 9"/>
          <p:cNvSpPr/>
          <p:nvPr/>
        </p:nvSpPr>
        <p:spPr>
          <a:xfrm>
            <a:off x="2697480" y="2697480"/>
            <a:ext cx="576072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34640" y="2807208"/>
            <a:ext cx="5486400" cy="274320"/>
          </a:xfrm>
          <a:prstGeom prst="rect">
            <a:avLst/>
          </a:prstGeom>
          <a:noFill/>
        </p:spPr>
        <p:txBody>
          <a:bodyPr wrap="square" lIns="0" rIns="0" tIns="0" bIns="0">
            <a:spAutoFit/>
          </a:bodyPr>
          <a:lstStyle/>
          <a:p>
            <a:pPr>
              <a:spcAft>
                <a:spcPts val="600"/>
              </a:spcAft>
            </a:pPr>
            <a:r>
              <a:rPr sz="1500" b="1">
                <a:solidFill>
                  <a:srgbClr val="F3EFE7"/>
                </a:solidFill>
                <a:latin typeface="Calibri"/>
              </a:rPr>
              <a:t>Evidence / criterion</a:t>
            </a:r>
          </a:p>
        </p:txBody>
      </p:sp>
      <p:sp>
        <p:nvSpPr>
          <p:cNvPr id="12" name="Rectangle 11"/>
          <p:cNvSpPr/>
          <p:nvPr/>
        </p:nvSpPr>
        <p:spPr>
          <a:xfrm>
            <a:off x="8458200" y="2697480"/>
            <a:ext cx="310896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2807208"/>
            <a:ext cx="2834640" cy="274320"/>
          </a:xfrm>
          <a:prstGeom prst="rect">
            <a:avLst/>
          </a:prstGeom>
          <a:noFill/>
        </p:spPr>
        <p:txBody>
          <a:bodyPr wrap="square" lIns="0" rIns="0" tIns="0" bIns="0">
            <a:spAutoFit/>
          </a:bodyPr>
          <a:lstStyle/>
          <a:p>
            <a:pPr>
              <a:spcAft>
                <a:spcPts val="600"/>
              </a:spcAft>
            </a:pPr>
            <a:r>
              <a:rPr sz="1500" b="1">
                <a:solidFill>
                  <a:srgbClr val="F3EFE7"/>
                </a:solidFill>
                <a:latin typeface="Calibri"/>
              </a:rPr>
              <a:t>Decision</a:t>
            </a:r>
          </a:p>
        </p:txBody>
      </p:sp>
      <p:sp>
        <p:nvSpPr>
          <p:cNvPr id="14" name="Rectangle 13"/>
          <p:cNvSpPr/>
          <p:nvPr/>
        </p:nvSpPr>
        <p:spPr>
          <a:xfrm>
            <a:off x="594360" y="3227832"/>
            <a:ext cx="21031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55848"/>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Visual</a:t>
            </a:r>
          </a:p>
        </p:txBody>
      </p:sp>
      <p:sp>
        <p:nvSpPr>
          <p:cNvPr id="16" name="Rectangle 15"/>
          <p:cNvSpPr/>
          <p:nvPr/>
        </p:nvSpPr>
        <p:spPr>
          <a:xfrm>
            <a:off x="2697480" y="3227832"/>
            <a:ext cx="57607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34640" y="3355848"/>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Hierarchy + crop</a:t>
            </a:r>
          </a:p>
        </p:txBody>
      </p:sp>
      <p:sp>
        <p:nvSpPr>
          <p:cNvPr id="18" name="Rectangle 17"/>
          <p:cNvSpPr/>
          <p:nvPr/>
        </p:nvSpPr>
        <p:spPr>
          <a:xfrm>
            <a:off x="8458200" y="3227832"/>
            <a:ext cx="310896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3355848"/>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Use</a:t>
            </a:r>
          </a:p>
        </p:txBody>
      </p:sp>
      <p:sp>
        <p:nvSpPr>
          <p:cNvPr id="20" name="Rectangle 19"/>
          <p:cNvSpPr/>
          <p:nvPr/>
        </p:nvSpPr>
        <p:spPr>
          <a:xfrm>
            <a:off x="594360" y="3831335"/>
            <a:ext cx="210312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959352"/>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Factual</a:t>
            </a:r>
          </a:p>
        </p:txBody>
      </p:sp>
      <p:sp>
        <p:nvSpPr>
          <p:cNvPr id="22" name="Rectangle 21"/>
          <p:cNvSpPr/>
          <p:nvPr/>
        </p:nvSpPr>
        <p:spPr>
          <a:xfrm>
            <a:off x="2697480" y="3831335"/>
            <a:ext cx="576072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34640" y="3959352"/>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Ledger comparison</a:t>
            </a:r>
          </a:p>
        </p:txBody>
      </p:sp>
      <p:sp>
        <p:nvSpPr>
          <p:cNvPr id="24" name="Rectangle 23"/>
          <p:cNvSpPr/>
          <p:nvPr/>
        </p:nvSpPr>
        <p:spPr>
          <a:xfrm>
            <a:off x="8458200" y="3831335"/>
            <a:ext cx="310896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0" y="3959352"/>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Propose</a:t>
            </a:r>
          </a:p>
        </p:txBody>
      </p:sp>
      <p:sp>
        <p:nvSpPr>
          <p:cNvPr id="26" name="Rectangle 25"/>
          <p:cNvSpPr/>
          <p:nvPr/>
        </p:nvSpPr>
        <p:spPr>
          <a:xfrm>
            <a:off x="594360" y="4434840"/>
            <a:ext cx="21031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562856"/>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Usability</a:t>
            </a:r>
          </a:p>
        </p:txBody>
      </p:sp>
      <p:sp>
        <p:nvSpPr>
          <p:cNvPr id="28" name="Rectangle 27"/>
          <p:cNvSpPr/>
          <p:nvPr/>
        </p:nvSpPr>
        <p:spPr>
          <a:xfrm>
            <a:off x="2697480" y="4434840"/>
            <a:ext cx="57607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34640" y="4562856"/>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Actual-size reading</a:t>
            </a:r>
          </a:p>
        </p:txBody>
      </p:sp>
      <p:sp>
        <p:nvSpPr>
          <p:cNvPr id="30" name="Rectangle 29"/>
          <p:cNvSpPr/>
          <p:nvPr/>
        </p:nvSpPr>
        <p:spPr>
          <a:xfrm>
            <a:off x="8458200" y="4434840"/>
            <a:ext cx="310896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0" y="4562856"/>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Check</a:t>
            </a:r>
          </a:p>
        </p:txBody>
      </p:sp>
      <p:sp>
        <p:nvSpPr>
          <p:cNvPr id="32" name="Rounded Rectangle 31"/>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Avoid an overall looks good note that does not show what was checked.</a:t>
            </a:r>
          </a:p>
        </p:txBody>
      </p:sp>
      <p:sp>
        <p:nvSpPr>
          <p:cNvPr id="34" name="TextBox 33"/>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A review row records fee visible in PDF, source fee = 680, and accepted or revise. A second row checks the CTA at phone size.</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2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Checkpoint: three usable formats</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37</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The flyer checkpoint contains the editable A5 source, PDF proof, square derivative, story derivative, generation prompt if used and text proof.</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Editable</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A5 source</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Portable</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PDF proof</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Derivative</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Square + story</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hand off only flattened screenshots when an editable design was requested.</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The sample checkpoint is a typographic classroom layout. Learners can replace the visual with an approved image while preserving the factual text and source ledger.</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LAB OVERVIEW · 75 MINUTES</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F3EFE7"/>
                </a:solidFill>
                <a:latin typeface="Cambria"/>
              </a:rPr>
              <a:t>Lab 03 · Design an editable bakery flyer</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A39E92"/>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A39E92"/>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A39E92"/>
                </a:solidFill>
                <a:latin typeface="Calibri"/>
              </a:rPr>
              <a:t>38</a:t>
            </a:r>
          </a:p>
        </p:txBody>
      </p:sp>
      <p:sp>
        <p:nvSpPr>
          <p:cNvPr id="7" name="TextBox 6"/>
          <p:cNvSpPr txBox="1"/>
          <p:nvPr/>
        </p:nvSpPr>
        <p:spPr>
          <a:xfrm>
            <a:off x="594360" y="1828800"/>
            <a:ext cx="10789920" cy="594360"/>
          </a:xfrm>
          <a:prstGeom prst="rect">
            <a:avLst/>
          </a:prstGeom>
          <a:noFill/>
        </p:spPr>
        <p:txBody>
          <a:bodyPr wrap="square" lIns="0" rIns="0" tIns="0" bIns="0">
            <a:spAutoFit/>
          </a:bodyPr>
          <a:lstStyle/>
          <a:p>
            <a:pPr>
              <a:spcAft>
                <a:spcPts val="600"/>
              </a:spcAft>
            </a:pPr>
            <a:r>
              <a:rPr sz="2300" b="0">
                <a:solidFill>
                  <a:srgbClr val="F3EFE7"/>
                </a:solidFill>
                <a:latin typeface="Calibri"/>
              </a:rPr>
              <a:t>Create an A5 flyer with source-checked copy and a complete text proof.</a:t>
            </a:r>
          </a:p>
        </p:txBody>
      </p:sp>
      <p:sp>
        <p:nvSpPr>
          <p:cNvPr id="8" name="Rounded Rectangle 7"/>
          <p:cNvSpPr/>
          <p:nvPr/>
        </p:nvSpPr>
        <p:spPr>
          <a:xfrm>
            <a:off x="594360"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What you’ll build</a:t>
            </a:r>
          </a:p>
        </p:txBody>
      </p:sp>
      <p:sp>
        <p:nvSpPr>
          <p:cNvPr id="12" name="TextBox 11"/>
          <p:cNvSpPr txBox="1"/>
          <p:nvPr/>
        </p:nvSpPr>
        <p:spPr>
          <a:xfrm>
            <a:off x="822960"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creative/sourdough/flyer-a5.pptx or another editable layout source, flyer-a5.pdf, flyer-copy.md, image-prompt.txt and text-proof.md.</a:t>
            </a:r>
          </a:p>
        </p:txBody>
      </p:sp>
      <p:sp>
        <p:nvSpPr>
          <p:cNvPr id="13" name="Rounded Rectangle 12"/>
          <p:cNvSpPr/>
          <p:nvPr/>
        </p:nvSpPr>
        <p:spPr>
          <a:xfrm>
            <a:off x="4337304"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Why it matters</a:t>
            </a:r>
          </a:p>
        </p:txBody>
      </p:sp>
      <p:sp>
        <p:nvSpPr>
          <p:cNvPr id="17" name="TextBox 16"/>
          <p:cNvSpPr txBox="1"/>
          <p:nvPr/>
        </p:nvSpPr>
        <p:spPr>
          <a:xfrm>
            <a:off x="4565904"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Apply flyer design and visual review to the same source-checked campaign.</a:t>
            </a:r>
          </a:p>
        </p:txBody>
      </p:sp>
      <p:sp>
        <p:nvSpPr>
          <p:cNvPr id="18" name="Rounded Rectangle 17"/>
          <p:cNvSpPr/>
          <p:nvPr/>
        </p:nvSpPr>
        <p:spPr>
          <a:xfrm>
            <a:off x="8080248"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Finished evidence</a:t>
            </a:r>
          </a:p>
        </p:txBody>
      </p:sp>
      <p:sp>
        <p:nvSpPr>
          <p:cNvPr id="22" name="TextBox 21"/>
          <p:cNvSpPr txBox="1"/>
          <p:nvPr/>
        </p:nvSpPr>
        <p:spPr>
          <a:xfrm>
            <a:off x="8308848"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Open the files and compare the required facts and checks in the lab guide.</a:t>
            </a:r>
          </a:p>
        </p:txBody>
      </p:sp>
      <p:sp>
        <p:nvSpPr>
          <p:cNvPr id="23" name="Rounded Rectangle 22"/>
          <p:cNvSpPr/>
          <p:nvPr/>
        </p:nvSpPr>
        <p:spPr>
          <a:xfrm>
            <a:off x="594360" y="5806440"/>
            <a:ext cx="10991088" cy="438912"/>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F3EFE7"/>
                </a:solidFill>
                <a:latin typeface="Calibri"/>
              </a:rPr>
              <a:t>Detailed procedure: labs/lab-03-flyer-design/README.md</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LAB OVERVIEW · 55 MINUTES</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F3EFE7"/>
                </a:solidFill>
                <a:latin typeface="Cambria"/>
              </a:rPr>
              <a:t>Lab 04 · Adapt and review the flyer variants</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A39E92"/>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A39E92"/>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A39E92"/>
                </a:solidFill>
                <a:latin typeface="Calibri"/>
              </a:rPr>
              <a:t>39</a:t>
            </a:r>
          </a:p>
        </p:txBody>
      </p:sp>
      <p:sp>
        <p:nvSpPr>
          <p:cNvPr id="7" name="TextBox 6"/>
          <p:cNvSpPr txBox="1"/>
          <p:nvPr/>
        </p:nvSpPr>
        <p:spPr>
          <a:xfrm>
            <a:off x="594360" y="1828800"/>
            <a:ext cx="10789920" cy="594360"/>
          </a:xfrm>
          <a:prstGeom prst="rect">
            <a:avLst/>
          </a:prstGeom>
          <a:noFill/>
        </p:spPr>
        <p:txBody>
          <a:bodyPr wrap="square" lIns="0" rIns="0" tIns="0" bIns="0">
            <a:spAutoFit/>
          </a:bodyPr>
          <a:lstStyle/>
          <a:p>
            <a:pPr>
              <a:spcAft>
                <a:spcPts val="600"/>
              </a:spcAft>
            </a:pPr>
            <a:r>
              <a:rPr sz="2300" b="0">
                <a:solidFill>
                  <a:srgbClr val="F3EFE7"/>
                </a:solidFill>
                <a:latin typeface="Calibri"/>
              </a:rPr>
              <a:t>Produce square and story derivatives that retain the offer and remain readable.</a:t>
            </a:r>
          </a:p>
        </p:txBody>
      </p:sp>
      <p:sp>
        <p:nvSpPr>
          <p:cNvPr id="8" name="Rounded Rectangle 7"/>
          <p:cNvSpPr/>
          <p:nvPr/>
        </p:nvSpPr>
        <p:spPr>
          <a:xfrm>
            <a:off x="594360"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What you’ll build</a:t>
            </a:r>
          </a:p>
        </p:txBody>
      </p:sp>
      <p:sp>
        <p:nvSpPr>
          <p:cNvPr id="12" name="TextBox 11"/>
          <p:cNvSpPr txBox="1"/>
          <p:nvPr/>
        </p:nvSpPr>
        <p:spPr>
          <a:xfrm>
            <a:off x="822960"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creative/sourdough/flyer-square.pptx, flyer-story.pptx, their PDF or PNG proofs, variants-proof.md and design-review.csv.</a:t>
            </a:r>
          </a:p>
        </p:txBody>
      </p:sp>
      <p:sp>
        <p:nvSpPr>
          <p:cNvPr id="13" name="Rounded Rectangle 12"/>
          <p:cNvSpPr/>
          <p:nvPr/>
        </p:nvSpPr>
        <p:spPr>
          <a:xfrm>
            <a:off x="4337304"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Why it matters</a:t>
            </a:r>
          </a:p>
        </p:txBody>
      </p:sp>
      <p:sp>
        <p:nvSpPr>
          <p:cNvPr id="17" name="TextBox 16"/>
          <p:cNvSpPr txBox="1"/>
          <p:nvPr/>
        </p:nvSpPr>
        <p:spPr>
          <a:xfrm>
            <a:off x="4565904"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Apply flyer design and visual review to the same source-checked campaign.</a:t>
            </a:r>
          </a:p>
        </p:txBody>
      </p:sp>
      <p:sp>
        <p:nvSpPr>
          <p:cNvPr id="18" name="Rounded Rectangle 17"/>
          <p:cNvSpPr/>
          <p:nvPr/>
        </p:nvSpPr>
        <p:spPr>
          <a:xfrm>
            <a:off x="8080248"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Finished evidence</a:t>
            </a:r>
          </a:p>
        </p:txBody>
      </p:sp>
      <p:sp>
        <p:nvSpPr>
          <p:cNvPr id="22" name="TextBox 21"/>
          <p:cNvSpPr txBox="1"/>
          <p:nvPr/>
        </p:nvSpPr>
        <p:spPr>
          <a:xfrm>
            <a:off x="8308848"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Open the files and compare the required facts and checks in the lab guide.</a:t>
            </a:r>
          </a:p>
        </p:txBody>
      </p:sp>
      <p:sp>
        <p:nvSpPr>
          <p:cNvPr id="23" name="Rounded Rectangle 22"/>
          <p:cNvSpPr/>
          <p:nvPr/>
        </p:nvSpPr>
        <p:spPr>
          <a:xfrm>
            <a:off x="594360" y="5806440"/>
            <a:ext cx="10991088" cy="438912"/>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F3EFE7"/>
                </a:solidFill>
                <a:latin typeface="Calibri"/>
              </a:rPr>
              <a:t>Detailed procedure: labs/lab-04-flyer-variants-and-review/README.md</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RECAP · LO2</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Topic 2 recap</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40</a:t>
            </a:r>
          </a:p>
        </p:txBody>
      </p:sp>
      <p:sp>
        <p:nvSpPr>
          <p:cNvPr id="7" name="Rounded Rectangle 6"/>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0" name="TextBox 9"/>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Explain</a:t>
            </a:r>
          </a:p>
        </p:txBody>
      </p:sp>
      <p:sp>
        <p:nvSpPr>
          <p:cNvPr id="11" name="TextBox 10"/>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Design begins with a single job. Explain why it matters to the campaign.</a:t>
            </a:r>
          </a:p>
        </p:txBody>
      </p:sp>
      <p:sp>
        <p:nvSpPr>
          <p:cNvPr id="12" name="Rounded Rectangle 11"/>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5" name="TextBox 14"/>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Show</a:t>
            </a:r>
          </a:p>
        </p:txBody>
      </p:sp>
      <p:sp>
        <p:nvSpPr>
          <p:cNvPr id="16" name="TextBox 15"/>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Open the current lab outputs and identify the evidence that supports their facts.</a:t>
            </a:r>
          </a:p>
        </p:txBody>
      </p:sp>
      <p:sp>
        <p:nvSpPr>
          <p:cNvPr id="17" name="Rounded Rectangle 16"/>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0" name="TextBox 19"/>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Improve</a:t>
            </a:r>
          </a:p>
        </p:txBody>
      </p:sp>
      <p:sp>
        <p:nvSpPr>
          <p:cNvPr id="21" name="TextBox 20"/>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Name one correction and the next check another marketer can reproduce.</a:t>
            </a:r>
          </a:p>
        </p:txBody>
      </p:sp>
      <p:sp>
        <p:nvSpPr>
          <p:cNvPr id="22" name="Rounded Rectangle 21"/>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LO2: Create and verify editable flyer designs and format variants using the academy brand.</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3 · LO3</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F3EFE7"/>
                </a:solidFill>
                <a:latin typeface="Cambria"/>
              </a:rPr>
              <a:t>Social articles and content planning</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A39E92"/>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A39E92"/>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A39E92"/>
                </a:solidFill>
                <a:latin typeface="Calibri"/>
              </a:rPr>
              <a:t>41</a:t>
            </a:r>
          </a:p>
        </p:txBody>
      </p:sp>
      <p:sp>
        <p:nvSpPr>
          <p:cNvPr id="7" name="Oval 6"/>
          <p:cNvSpPr/>
          <p:nvPr/>
        </p:nvSpPr>
        <p:spPr>
          <a:xfrm>
            <a:off x="9601200" y="4389120"/>
            <a:ext cx="3657600" cy="3657600"/>
          </a:xfrm>
          <a:prstGeom prst="ellipse">
            <a:avLst/>
          </a:prstGeom>
          <a:solidFill>
            <a:srgbClr val="3F2D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286000"/>
            <a:ext cx="9875520" cy="1005840"/>
          </a:xfrm>
          <a:prstGeom prst="rect">
            <a:avLst/>
          </a:prstGeom>
          <a:noFill/>
        </p:spPr>
        <p:txBody>
          <a:bodyPr wrap="square" lIns="0" rIns="0" tIns="0" bIns="0">
            <a:spAutoFit/>
          </a:bodyPr>
          <a:lstStyle/>
          <a:p>
            <a:pPr>
              <a:spcAft>
                <a:spcPts val="600"/>
              </a:spcAft>
            </a:pPr>
            <a:r>
              <a:rPr sz="2500" b="0">
                <a:solidFill>
                  <a:srgbClr val="F3EFE7"/>
                </a:solidFill>
                <a:latin typeface="Calibri"/>
              </a:rPr>
              <a:t>Useful teaching angles · adaptation · calendar</a:t>
            </a:r>
          </a:p>
        </p:txBody>
      </p:sp>
      <p:sp>
        <p:nvSpPr>
          <p:cNvPr id="9" name="TextBox 8"/>
          <p:cNvSpPr txBox="1"/>
          <p:nvPr/>
        </p:nvSpPr>
        <p:spPr>
          <a:xfrm>
            <a:off x="594360" y="4069080"/>
            <a:ext cx="9875520" cy="914400"/>
          </a:xfrm>
          <a:prstGeom prst="rect">
            <a:avLst/>
          </a:prstGeom>
          <a:noFill/>
        </p:spPr>
        <p:txBody>
          <a:bodyPr wrap="square" lIns="0" rIns="0" tIns="0" bIns="0">
            <a:spAutoFit/>
          </a:bodyPr>
          <a:lstStyle/>
          <a:p>
            <a:pPr>
              <a:spcAft>
                <a:spcPts val="600"/>
              </a:spcAft>
            </a:pPr>
            <a:r>
              <a:rPr sz="2500" b="0">
                <a:solidFill>
                  <a:srgbClr val="F3EFE7"/>
                </a:solidFill>
                <a:latin typeface="Cambria"/>
              </a:rPr>
              <a:t>Understand the model. Apply it to the academy. Verify the saved result.</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3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A social article has a useful promise</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42</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 social article develops an idea beyond a short caption.</a:t>
            </a:r>
          </a:p>
        </p:txBody>
      </p:sp>
      <p:sp>
        <p:nvSpPr>
          <p:cNvPr id="8" name="Rounded Rectangle 7"/>
          <p:cNvSpPr/>
          <p:nvPr/>
        </p:nvSpPr>
        <p:spPr>
          <a:xfrm>
            <a:off x="594360"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1</a:t>
            </a:r>
          </a:p>
        </p:txBody>
      </p:sp>
      <p:sp>
        <p:nvSpPr>
          <p:cNvPr id="11" name="TextBox 10"/>
          <p:cNvSpPr txBox="1"/>
          <p:nvPr/>
        </p:nvSpPr>
        <p:spPr>
          <a:xfrm>
            <a:off x="1371600"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Problem</a:t>
            </a:r>
          </a:p>
        </p:txBody>
      </p:sp>
      <p:sp>
        <p:nvSpPr>
          <p:cNvPr id="12" name="TextBox 11"/>
          <p:cNvSpPr txBox="1"/>
          <p:nvPr/>
        </p:nvSpPr>
        <p:spPr>
          <a:xfrm>
            <a:off x="813816"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Starter uncertainty</a:t>
            </a:r>
          </a:p>
        </p:txBody>
      </p:sp>
      <p:sp>
        <p:nvSpPr>
          <p:cNvPr id="13" name="Right Arrow 12"/>
          <p:cNvSpPr/>
          <p:nvPr/>
        </p:nvSpPr>
        <p:spPr>
          <a:xfrm>
            <a:off x="4023359"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98264"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62856"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6"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2</a:t>
            </a:r>
          </a:p>
        </p:txBody>
      </p:sp>
      <p:sp>
        <p:nvSpPr>
          <p:cNvPr id="17" name="TextBox 16"/>
          <p:cNvSpPr txBox="1"/>
          <p:nvPr/>
        </p:nvSpPr>
        <p:spPr>
          <a:xfrm>
            <a:off x="5175504"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Idea</a:t>
            </a:r>
          </a:p>
        </p:txBody>
      </p:sp>
      <p:sp>
        <p:nvSpPr>
          <p:cNvPr id="18" name="TextBox 17"/>
          <p:cNvSpPr txBox="1"/>
          <p:nvPr/>
        </p:nvSpPr>
        <p:spPr>
          <a:xfrm>
            <a:off x="4617720"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Learn a repeatable process</a:t>
            </a:r>
          </a:p>
        </p:txBody>
      </p:sp>
      <p:sp>
        <p:nvSpPr>
          <p:cNvPr id="19" name="Right Arrow 18"/>
          <p:cNvSpPr/>
          <p:nvPr/>
        </p:nvSpPr>
        <p:spPr>
          <a:xfrm>
            <a:off x="7827264"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02168"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66760"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3</a:t>
            </a:r>
          </a:p>
        </p:txBody>
      </p:sp>
      <p:sp>
        <p:nvSpPr>
          <p:cNvPr id="23" name="TextBox 22"/>
          <p:cNvSpPr txBox="1"/>
          <p:nvPr/>
        </p:nvSpPr>
        <p:spPr>
          <a:xfrm>
            <a:off x="8979408"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Evidence</a:t>
            </a:r>
          </a:p>
        </p:txBody>
      </p:sp>
      <p:sp>
        <p:nvSpPr>
          <p:cNvPr id="24" name="TextBox 23"/>
          <p:cNvSpPr txBox="1"/>
          <p:nvPr/>
        </p:nvSpPr>
        <p:spPr>
          <a:xfrm>
            <a:off x="8421624"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Catalogue outcomes</a:t>
            </a:r>
          </a:p>
        </p:txBody>
      </p:sp>
      <p:sp>
        <p:nvSpPr>
          <p:cNvPr id="25" name="Rounded Rectangle 24"/>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Avoid presenting unverified food-safety or fermentation instructions as authoritative advice.</a:t>
            </a:r>
          </a:p>
        </p:txBody>
      </p:sp>
      <p:sp>
        <p:nvSpPr>
          <p:cNvPr id="27" name="TextBox 26"/>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An article about building starter confidence explains what a beginner should look for in a structured class. It uses BAK-101’s learning outcomes as evidence without inventing a recipe.</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3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Choose a content pillar</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43</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 content pillar is a repeatable area of value for an audience.</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Teach</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Skill confidence</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Show</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Process + preparation</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Invite</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Course discovery</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A pillar called engagement is too vague to help a writer choose an angle.</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The first article focuses on confidence. A second post explains what to bring. A course-discovery post introduces the selected course using the exact catalogue fields.</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3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Use a hook without inventing a result</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44</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 hook makes the reader want to continue.</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Hook</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Recognisable problem</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Body</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Useful explanation</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CTA</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Relevant next step</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Clickbait creates attention that the article cannot justify.</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Your starter needs a routine, not guesswork is a creative hook. Become an expert in four weeks overstates the course’s outcomes and should be rejected.</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3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Structure a self-contained article</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45</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An article needs an opening, a developed middle and a conclusion with one next action.</a:t>
            </a:r>
          </a:p>
        </p:txBody>
      </p:sp>
      <p:sp>
        <p:nvSpPr>
          <p:cNvPr id="8" name="Rounded Rectangle 7"/>
          <p:cNvSpPr/>
          <p:nvPr/>
        </p:nvSpPr>
        <p:spPr>
          <a:xfrm>
            <a:off x="594360"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1</a:t>
            </a:r>
          </a:p>
        </p:txBody>
      </p:sp>
      <p:sp>
        <p:nvSpPr>
          <p:cNvPr id="11" name="TextBox 10"/>
          <p:cNvSpPr txBox="1"/>
          <p:nvPr/>
        </p:nvSpPr>
        <p:spPr>
          <a:xfrm>
            <a:off x="1371600"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Opening</a:t>
            </a:r>
          </a:p>
        </p:txBody>
      </p:sp>
      <p:sp>
        <p:nvSpPr>
          <p:cNvPr id="12" name="TextBox 11"/>
          <p:cNvSpPr txBox="1"/>
          <p:nvPr/>
        </p:nvSpPr>
        <p:spPr>
          <a:xfrm>
            <a:off x="813816"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Name the need</a:t>
            </a:r>
          </a:p>
        </p:txBody>
      </p:sp>
      <p:sp>
        <p:nvSpPr>
          <p:cNvPr id="13" name="Right Arrow 12"/>
          <p:cNvSpPr/>
          <p:nvPr/>
        </p:nvSpPr>
        <p:spPr>
          <a:xfrm>
            <a:off x="4023359"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98264"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62856"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6"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2</a:t>
            </a:r>
          </a:p>
        </p:txBody>
      </p:sp>
      <p:sp>
        <p:nvSpPr>
          <p:cNvPr id="17" name="TextBox 16"/>
          <p:cNvSpPr txBox="1"/>
          <p:nvPr/>
        </p:nvSpPr>
        <p:spPr>
          <a:xfrm>
            <a:off x="5175504"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Middle</a:t>
            </a:r>
          </a:p>
        </p:txBody>
      </p:sp>
      <p:sp>
        <p:nvSpPr>
          <p:cNvPr id="18" name="TextBox 17"/>
          <p:cNvSpPr txBox="1"/>
          <p:nvPr/>
        </p:nvSpPr>
        <p:spPr>
          <a:xfrm>
            <a:off x="4617720"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Explain the idea</a:t>
            </a:r>
          </a:p>
        </p:txBody>
      </p:sp>
      <p:sp>
        <p:nvSpPr>
          <p:cNvPr id="19" name="Right Arrow 18"/>
          <p:cNvSpPr/>
          <p:nvPr/>
        </p:nvSpPr>
        <p:spPr>
          <a:xfrm>
            <a:off x="7827264"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02168"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66760"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3</a:t>
            </a:r>
          </a:p>
        </p:txBody>
      </p:sp>
      <p:sp>
        <p:nvSpPr>
          <p:cNvPr id="23" name="TextBox 22"/>
          <p:cNvSpPr txBox="1"/>
          <p:nvPr/>
        </p:nvSpPr>
        <p:spPr>
          <a:xfrm>
            <a:off x="8979408"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Ending</a:t>
            </a:r>
          </a:p>
        </p:txBody>
      </p:sp>
      <p:sp>
        <p:nvSpPr>
          <p:cNvPr id="24" name="TextBox 23"/>
          <p:cNvSpPr txBox="1"/>
          <p:nvPr/>
        </p:nvSpPr>
        <p:spPr>
          <a:xfrm>
            <a:off x="8421624"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One next action</a:t>
            </a:r>
          </a:p>
        </p:txBody>
      </p:sp>
      <p:sp>
        <p:nvSpPr>
          <p:cNvPr id="25" name="Rounded Rectangle 24"/>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pad the article with repeated AI phrases or unsupported claims to hit a word count.</a:t>
            </a:r>
          </a:p>
        </p:txBody>
      </p:sp>
      <p:sp>
        <p:nvSpPr>
          <p:cNvPr id="27" name="TextBox 26"/>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A 500–700 word classroom article has three sections: the beginner’s problem, the learning process and what the selected class covers. Its final CTA points to course details.</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3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Repurpose the idea, not the paragraph</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46</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Repurposing retains the central promise and source facts while changing the format.</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Article</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Develop the idea</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Caption</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One useful insight</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Carousel</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Panel sequence</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Pasting the same long paragraph everywhere ignores how people read each format.</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Turn the article into an Instagram caption under 120 words and a Facebook post. Both keep the BAK-101 course title and avoid copying the full article opening.</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3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Voice is a set of choices</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47</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The academy voice is warm, practical and confident.</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Warm</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Helpful language</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Practical</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Concrete action</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Confident</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Supported claims</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A casual voice does not justify exaggeration or invented personal experience.</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Learn to feed and maintain a starter is grounded in the course outcomes. Unlock your limitless culinary potential is vague and inconsistent with the brand.</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3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Alt text describes the actual visual</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48</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Alt text conveys the meaningful content of an image to someone who cannot see it.</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Observe</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Actual contents</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Describe</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Relevant meaning</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Verify</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No invented identity</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use alt text as a pile of keywords or describe an image that was never generated.</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For an illustrative loaf image: A sliced sourdough loaf on a cream work surface, with its crumb visible. A flyer’s essential offer should also appear in nearby text.</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3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A calendar is a coordination tool</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49</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 content calendar records the message, format, audience, source, owner and review status.</a:t>
            </a:r>
          </a:p>
        </p:txBody>
      </p:sp>
      <p:sp>
        <p:nvSpPr>
          <p:cNvPr id="8" name="Rectangle 7"/>
          <p:cNvSpPr/>
          <p:nvPr/>
        </p:nvSpPr>
        <p:spPr>
          <a:xfrm>
            <a:off x="594360" y="2697480"/>
            <a:ext cx="210312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807208"/>
            <a:ext cx="1828799" cy="274320"/>
          </a:xfrm>
          <a:prstGeom prst="rect">
            <a:avLst/>
          </a:prstGeom>
          <a:noFill/>
        </p:spPr>
        <p:txBody>
          <a:bodyPr wrap="square" lIns="0" rIns="0" tIns="0" bIns="0">
            <a:spAutoFit/>
          </a:bodyPr>
          <a:lstStyle/>
          <a:p>
            <a:pPr>
              <a:spcAft>
                <a:spcPts val="600"/>
              </a:spcAft>
            </a:pPr>
            <a:r>
              <a:rPr sz="1500" b="1">
                <a:solidFill>
                  <a:srgbClr val="F3EFE7"/>
                </a:solidFill>
                <a:latin typeface="Calibri"/>
              </a:rPr>
              <a:t>Item</a:t>
            </a:r>
          </a:p>
        </p:txBody>
      </p:sp>
      <p:sp>
        <p:nvSpPr>
          <p:cNvPr id="10" name="Rectangle 9"/>
          <p:cNvSpPr/>
          <p:nvPr/>
        </p:nvSpPr>
        <p:spPr>
          <a:xfrm>
            <a:off x="2697480" y="2697480"/>
            <a:ext cx="576072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34640" y="2807208"/>
            <a:ext cx="5486400" cy="274320"/>
          </a:xfrm>
          <a:prstGeom prst="rect">
            <a:avLst/>
          </a:prstGeom>
          <a:noFill/>
        </p:spPr>
        <p:txBody>
          <a:bodyPr wrap="square" lIns="0" rIns="0" tIns="0" bIns="0">
            <a:spAutoFit/>
          </a:bodyPr>
          <a:lstStyle/>
          <a:p>
            <a:pPr>
              <a:spcAft>
                <a:spcPts val="600"/>
              </a:spcAft>
            </a:pPr>
            <a:r>
              <a:rPr sz="1500" b="1">
                <a:solidFill>
                  <a:srgbClr val="F3EFE7"/>
                </a:solidFill>
                <a:latin typeface="Calibri"/>
              </a:rPr>
              <a:t>Evidence / criterion</a:t>
            </a:r>
          </a:p>
        </p:txBody>
      </p:sp>
      <p:sp>
        <p:nvSpPr>
          <p:cNvPr id="12" name="Rectangle 11"/>
          <p:cNvSpPr/>
          <p:nvPr/>
        </p:nvSpPr>
        <p:spPr>
          <a:xfrm>
            <a:off x="8458200" y="2697480"/>
            <a:ext cx="310896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2807208"/>
            <a:ext cx="2834640" cy="274320"/>
          </a:xfrm>
          <a:prstGeom prst="rect">
            <a:avLst/>
          </a:prstGeom>
          <a:noFill/>
        </p:spPr>
        <p:txBody>
          <a:bodyPr wrap="square" lIns="0" rIns="0" tIns="0" bIns="0">
            <a:spAutoFit/>
          </a:bodyPr>
          <a:lstStyle/>
          <a:p>
            <a:pPr>
              <a:spcAft>
                <a:spcPts val="600"/>
              </a:spcAft>
            </a:pPr>
            <a:r>
              <a:rPr sz="1500" b="1">
                <a:solidFill>
                  <a:srgbClr val="F3EFE7"/>
                </a:solidFill>
                <a:latin typeface="Calibri"/>
              </a:rPr>
              <a:t>Decision</a:t>
            </a:r>
          </a:p>
        </p:txBody>
      </p:sp>
      <p:sp>
        <p:nvSpPr>
          <p:cNvPr id="14" name="Rectangle 13"/>
          <p:cNvSpPr/>
          <p:nvPr/>
        </p:nvSpPr>
        <p:spPr>
          <a:xfrm>
            <a:off x="594360" y="3227832"/>
            <a:ext cx="21031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55848"/>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Day 1</a:t>
            </a:r>
          </a:p>
        </p:txBody>
      </p:sp>
      <p:sp>
        <p:nvSpPr>
          <p:cNvPr id="16" name="Rectangle 15"/>
          <p:cNvSpPr/>
          <p:nvPr/>
        </p:nvSpPr>
        <p:spPr>
          <a:xfrm>
            <a:off x="2697480" y="3227832"/>
            <a:ext cx="57607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34640" y="3355848"/>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Teach: useful learning question</a:t>
            </a:r>
          </a:p>
        </p:txBody>
      </p:sp>
      <p:sp>
        <p:nvSpPr>
          <p:cNvPr id="18" name="Rectangle 17"/>
          <p:cNvSpPr/>
          <p:nvPr/>
        </p:nvSpPr>
        <p:spPr>
          <a:xfrm>
            <a:off x="8458200" y="3227832"/>
            <a:ext cx="310896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3355848"/>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Draft</a:t>
            </a:r>
          </a:p>
        </p:txBody>
      </p:sp>
      <p:sp>
        <p:nvSpPr>
          <p:cNvPr id="20" name="Rectangle 19"/>
          <p:cNvSpPr/>
          <p:nvPr/>
        </p:nvSpPr>
        <p:spPr>
          <a:xfrm>
            <a:off x="594360" y="3831335"/>
            <a:ext cx="210312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959352"/>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Day 3</a:t>
            </a:r>
          </a:p>
        </p:txBody>
      </p:sp>
      <p:sp>
        <p:nvSpPr>
          <p:cNvPr id="22" name="Rectangle 21"/>
          <p:cNvSpPr/>
          <p:nvPr/>
        </p:nvSpPr>
        <p:spPr>
          <a:xfrm>
            <a:off x="2697480" y="3831335"/>
            <a:ext cx="576072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34640" y="3959352"/>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Prepare: what to bring</a:t>
            </a:r>
          </a:p>
        </p:txBody>
      </p:sp>
      <p:sp>
        <p:nvSpPr>
          <p:cNvPr id="24" name="Rectangle 23"/>
          <p:cNvSpPr/>
          <p:nvPr/>
        </p:nvSpPr>
        <p:spPr>
          <a:xfrm>
            <a:off x="8458200" y="3831335"/>
            <a:ext cx="310896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0" y="3959352"/>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Draft</a:t>
            </a:r>
          </a:p>
        </p:txBody>
      </p:sp>
      <p:sp>
        <p:nvSpPr>
          <p:cNvPr id="26" name="Rectangle 25"/>
          <p:cNvSpPr/>
          <p:nvPr/>
        </p:nvSpPr>
        <p:spPr>
          <a:xfrm>
            <a:off x="594360" y="4434840"/>
            <a:ext cx="21031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562856"/>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Day 9</a:t>
            </a:r>
          </a:p>
        </p:txBody>
      </p:sp>
      <p:sp>
        <p:nvSpPr>
          <p:cNvPr id="28" name="Rectangle 27"/>
          <p:cNvSpPr/>
          <p:nvPr/>
        </p:nvSpPr>
        <p:spPr>
          <a:xfrm>
            <a:off x="2697480" y="4434840"/>
            <a:ext cx="57607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34640" y="4562856"/>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Invite: source-checked course offer</a:t>
            </a:r>
          </a:p>
        </p:txBody>
      </p:sp>
      <p:sp>
        <p:nvSpPr>
          <p:cNvPr id="30" name="Rectangle 29"/>
          <p:cNvSpPr/>
          <p:nvPr/>
        </p:nvSpPr>
        <p:spPr>
          <a:xfrm>
            <a:off x="8458200" y="4434840"/>
            <a:ext cx="310896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0" y="4562856"/>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Draft</a:t>
            </a:r>
          </a:p>
        </p:txBody>
      </p:sp>
      <p:sp>
        <p:nvSpPr>
          <p:cNvPr id="32" name="Rounded Rectangle 31"/>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A proposed calendar is not proof that posts are scheduled or published.</a:t>
            </a:r>
          </a:p>
        </p:txBody>
      </p:sp>
      <p:sp>
        <p:nvSpPr>
          <p:cNvPr id="34" name="TextBox 33"/>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Day 1 introduces the article, Day 3 shares a preparation caption, Day 5 uses the flyer. Each row identifies BAK-101 and points to the same claim ledger.</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3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Balance teaching and promotion</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50</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The reused academy social workflow limits hard-sell posts to one in five.</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3 posts</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Teach a useful idea</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1 post</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Answer a question</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1 post</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Direct invitation</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label every post educational while all five ask for an immediate purchase.</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A five-post set uses three teaching angles, one practical question and one direct course invitation. All five have a clear purpose and appropriate CTA.</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3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Check originality and attribution</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51</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Originality means developing the message from approved facts and a fresh angle, not paraphrasing a competitor’s post.</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Sources</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Approved facts</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Writing</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Original prose</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Quotes</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Verified attribution</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ask Work to imitate a living writer or scrape a competitor article into the draft.</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The learner drafts an article about choosing a starter-focused course and records the learning outcomes used. No external chef quote is needed to make it persuasive.</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3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Review beyond spelling</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52</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Editorial review checks the promise, logic, audience relevance, source fidelity and action.</a:t>
            </a:r>
          </a:p>
        </p:txBody>
      </p:sp>
      <p:sp>
        <p:nvSpPr>
          <p:cNvPr id="8" name="Rectangle 7"/>
          <p:cNvSpPr/>
          <p:nvPr/>
        </p:nvSpPr>
        <p:spPr>
          <a:xfrm>
            <a:off x="594360" y="2697480"/>
            <a:ext cx="210312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807208"/>
            <a:ext cx="1828799" cy="274320"/>
          </a:xfrm>
          <a:prstGeom prst="rect">
            <a:avLst/>
          </a:prstGeom>
          <a:noFill/>
        </p:spPr>
        <p:txBody>
          <a:bodyPr wrap="square" lIns="0" rIns="0" tIns="0" bIns="0">
            <a:spAutoFit/>
          </a:bodyPr>
          <a:lstStyle/>
          <a:p>
            <a:pPr>
              <a:spcAft>
                <a:spcPts val="600"/>
              </a:spcAft>
            </a:pPr>
            <a:r>
              <a:rPr sz="1500" b="1">
                <a:solidFill>
                  <a:srgbClr val="F3EFE7"/>
                </a:solidFill>
                <a:latin typeface="Calibri"/>
              </a:rPr>
              <a:t>Item</a:t>
            </a:r>
          </a:p>
        </p:txBody>
      </p:sp>
      <p:sp>
        <p:nvSpPr>
          <p:cNvPr id="10" name="Rectangle 9"/>
          <p:cNvSpPr/>
          <p:nvPr/>
        </p:nvSpPr>
        <p:spPr>
          <a:xfrm>
            <a:off x="2697480" y="2697480"/>
            <a:ext cx="576072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34640" y="2807208"/>
            <a:ext cx="5486400" cy="274320"/>
          </a:xfrm>
          <a:prstGeom prst="rect">
            <a:avLst/>
          </a:prstGeom>
          <a:noFill/>
        </p:spPr>
        <p:txBody>
          <a:bodyPr wrap="square" lIns="0" rIns="0" tIns="0" bIns="0">
            <a:spAutoFit/>
          </a:bodyPr>
          <a:lstStyle/>
          <a:p>
            <a:pPr>
              <a:spcAft>
                <a:spcPts val="600"/>
              </a:spcAft>
            </a:pPr>
            <a:r>
              <a:rPr sz="1500" b="1">
                <a:solidFill>
                  <a:srgbClr val="F3EFE7"/>
                </a:solidFill>
                <a:latin typeface="Calibri"/>
              </a:rPr>
              <a:t>Evidence / criterion</a:t>
            </a:r>
          </a:p>
        </p:txBody>
      </p:sp>
      <p:sp>
        <p:nvSpPr>
          <p:cNvPr id="12" name="Rectangle 11"/>
          <p:cNvSpPr/>
          <p:nvPr/>
        </p:nvSpPr>
        <p:spPr>
          <a:xfrm>
            <a:off x="8458200" y="2697480"/>
            <a:ext cx="310896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2807208"/>
            <a:ext cx="2834640" cy="274320"/>
          </a:xfrm>
          <a:prstGeom prst="rect">
            <a:avLst/>
          </a:prstGeom>
          <a:noFill/>
        </p:spPr>
        <p:txBody>
          <a:bodyPr wrap="square" lIns="0" rIns="0" tIns="0" bIns="0">
            <a:spAutoFit/>
          </a:bodyPr>
          <a:lstStyle/>
          <a:p>
            <a:pPr>
              <a:spcAft>
                <a:spcPts val="600"/>
              </a:spcAft>
            </a:pPr>
            <a:r>
              <a:rPr sz="1500" b="1">
                <a:solidFill>
                  <a:srgbClr val="F3EFE7"/>
                </a:solidFill>
                <a:latin typeface="Calibri"/>
              </a:rPr>
              <a:t>Decision</a:t>
            </a:r>
          </a:p>
        </p:txBody>
      </p:sp>
      <p:sp>
        <p:nvSpPr>
          <p:cNvPr id="14" name="Rectangle 13"/>
          <p:cNvSpPr/>
          <p:nvPr/>
        </p:nvSpPr>
        <p:spPr>
          <a:xfrm>
            <a:off x="594360" y="3227832"/>
            <a:ext cx="21031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55848"/>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Meaning</a:t>
            </a:r>
          </a:p>
        </p:txBody>
      </p:sp>
      <p:sp>
        <p:nvSpPr>
          <p:cNvPr id="16" name="Rectangle 15"/>
          <p:cNvSpPr/>
          <p:nvPr/>
        </p:nvSpPr>
        <p:spPr>
          <a:xfrm>
            <a:off x="2697480" y="3227832"/>
            <a:ext cx="57607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34640" y="3355848"/>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Does it help?</a:t>
            </a:r>
          </a:p>
        </p:txBody>
      </p:sp>
      <p:sp>
        <p:nvSpPr>
          <p:cNvPr id="18" name="Rectangle 17"/>
          <p:cNvSpPr/>
          <p:nvPr/>
        </p:nvSpPr>
        <p:spPr>
          <a:xfrm>
            <a:off x="8458200" y="3227832"/>
            <a:ext cx="310896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3355848"/>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Use</a:t>
            </a:r>
          </a:p>
        </p:txBody>
      </p:sp>
      <p:sp>
        <p:nvSpPr>
          <p:cNvPr id="20" name="Rectangle 19"/>
          <p:cNvSpPr/>
          <p:nvPr/>
        </p:nvSpPr>
        <p:spPr>
          <a:xfrm>
            <a:off x="594360" y="3831335"/>
            <a:ext cx="210312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959352"/>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Evidence</a:t>
            </a:r>
          </a:p>
        </p:txBody>
      </p:sp>
      <p:sp>
        <p:nvSpPr>
          <p:cNvPr id="22" name="Rectangle 21"/>
          <p:cNvSpPr/>
          <p:nvPr/>
        </p:nvSpPr>
        <p:spPr>
          <a:xfrm>
            <a:off x="2697480" y="3831335"/>
            <a:ext cx="576072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34640" y="3959352"/>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Is it supported?</a:t>
            </a:r>
          </a:p>
        </p:txBody>
      </p:sp>
      <p:sp>
        <p:nvSpPr>
          <p:cNvPr id="24" name="Rectangle 23"/>
          <p:cNvSpPr/>
          <p:nvPr/>
        </p:nvSpPr>
        <p:spPr>
          <a:xfrm>
            <a:off x="8458200" y="3831335"/>
            <a:ext cx="310896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0" y="3959352"/>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Propose</a:t>
            </a:r>
          </a:p>
        </p:txBody>
      </p:sp>
      <p:sp>
        <p:nvSpPr>
          <p:cNvPr id="26" name="Rectangle 25"/>
          <p:cNvSpPr/>
          <p:nvPr/>
        </p:nvSpPr>
        <p:spPr>
          <a:xfrm>
            <a:off x="594360" y="4434840"/>
            <a:ext cx="21031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562856"/>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Action</a:t>
            </a:r>
          </a:p>
        </p:txBody>
      </p:sp>
      <p:sp>
        <p:nvSpPr>
          <p:cNvPr id="28" name="Rectangle 27"/>
          <p:cNvSpPr/>
          <p:nvPr/>
        </p:nvSpPr>
        <p:spPr>
          <a:xfrm>
            <a:off x="2697480" y="4434840"/>
            <a:ext cx="57607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34640" y="4562856"/>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Is it clear?</a:t>
            </a:r>
          </a:p>
        </p:txBody>
      </p:sp>
      <p:sp>
        <p:nvSpPr>
          <p:cNvPr id="30" name="Rectangle 29"/>
          <p:cNvSpPr/>
          <p:nvPr/>
        </p:nvSpPr>
        <p:spPr>
          <a:xfrm>
            <a:off x="8458200" y="4434840"/>
            <a:ext cx="310896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0" y="4562856"/>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Check</a:t>
            </a:r>
          </a:p>
        </p:txBody>
      </p:sp>
      <p:sp>
        <p:nvSpPr>
          <p:cNvPr id="32" name="Rounded Rectangle 31"/>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Perfect grammar does not rescue a weak idea or unsupported claim.</a:t>
            </a:r>
          </a:p>
        </p:txBody>
      </p:sp>
      <p:sp>
        <p:nvSpPr>
          <p:cNvPr id="34" name="TextBox 33"/>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A reviewer removes a claim that all beginners struggle and replaces it with a question: Unsure how to keep a starter routine? The proposition becomes more precise.</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3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Checkpoint: one idea across channels</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53</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The social checkpoint contains the article, platform packages, a five-post calendar and editorial review.</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Article</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Developed argument</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Packages</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Hook + CTA + alt text</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Calendar</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Review-ready plan</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mark a proposed post as live to make the handoff appear complete.</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Use the supplied draft article and caption checkpoint if a previous task stalled. Continue by revising it against your own brief, rather than treating the sample as an approved campaign.</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LAB OVERVIEW · 70 MINUTES</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F3EFE7"/>
                </a:solidFill>
                <a:latin typeface="Cambria"/>
              </a:rPr>
              <a:t>Lab 05 · Write a social article and platform packages</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A39E92"/>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A39E92"/>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A39E92"/>
                </a:solidFill>
                <a:latin typeface="Calibri"/>
              </a:rPr>
              <a:t>54</a:t>
            </a:r>
          </a:p>
        </p:txBody>
      </p:sp>
      <p:sp>
        <p:nvSpPr>
          <p:cNvPr id="7" name="TextBox 6"/>
          <p:cNvSpPr txBox="1"/>
          <p:nvPr/>
        </p:nvSpPr>
        <p:spPr>
          <a:xfrm>
            <a:off x="594360" y="1828800"/>
            <a:ext cx="10789920" cy="594360"/>
          </a:xfrm>
          <a:prstGeom prst="rect">
            <a:avLst/>
          </a:prstGeom>
          <a:noFill/>
        </p:spPr>
        <p:txBody>
          <a:bodyPr wrap="square" lIns="0" rIns="0" tIns="0" bIns="0">
            <a:spAutoFit/>
          </a:bodyPr>
          <a:lstStyle/>
          <a:p>
            <a:pPr>
              <a:spcAft>
                <a:spcPts val="600"/>
              </a:spcAft>
            </a:pPr>
            <a:r>
              <a:rPr sz="2300" b="0">
                <a:solidFill>
                  <a:srgbClr val="F3EFE7"/>
                </a:solidFill>
                <a:latin typeface="Calibri"/>
              </a:rPr>
              <a:t>Create a useful article and two short-form adaptations from the same approved facts.</a:t>
            </a:r>
          </a:p>
        </p:txBody>
      </p:sp>
      <p:sp>
        <p:nvSpPr>
          <p:cNvPr id="8" name="Rounded Rectangle 7"/>
          <p:cNvSpPr/>
          <p:nvPr/>
        </p:nvSpPr>
        <p:spPr>
          <a:xfrm>
            <a:off x="594360"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What you’ll build</a:t>
            </a:r>
          </a:p>
        </p:txBody>
      </p:sp>
      <p:sp>
        <p:nvSpPr>
          <p:cNvPr id="12" name="TextBox 11"/>
          <p:cNvSpPr txBox="1"/>
          <p:nvPr/>
        </p:nvSpPr>
        <p:spPr>
          <a:xfrm>
            <a:off x="822960"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content/article.md, content/instagram.md, content/facebook.md and content/editorial-review.md.</a:t>
            </a:r>
          </a:p>
        </p:txBody>
      </p:sp>
      <p:sp>
        <p:nvSpPr>
          <p:cNvPr id="13" name="Rounded Rectangle 12"/>
          <p:cNvSpPr/>
          <p:nvPr/>
        </p:nvSpPr>
        <p:spPr>
          <a:xfrm>
            <a:off x="4337304"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Why it matters</a:t>
            </a:r>
          </a:p>
        </p:txBody>
      </p:sp>
      <p:sp>
        <p:nvSpPr>
          <p:cNvPr id="17" name="TextBox 16"/>
          <p:cNvSpPr txBox="1"/>
          <p:nvPr/>
        </p:nvSpPr>
        <p:spPr>
          <a:xfrm>
            <a:off x="4565904"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Apply social articles and content planning to the same source-checked campaign.</a:t>
            </a:r>
          </a:p>
        </p:txBody>
      </p:sp>
      <p:sp>
        <p:nvSpPr>
          <p:cNvPr id="18" name="Rounded Rectangle 17"/>
          <p:cNvSpPr/>
          <p:nvPr/>
        </p:nvSpPr>
        <p:spPr>
          <a:xfrm>
            <a:off x="8080248"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Finished evidence</a:t>
            </a:r>
          </a:p>
        </p:txBody>
      </p:sp>
      <p:sp>
        <p:nvSpPr>
          <p:cNvPr id="22" name="TextBox 21"/>
          <p:cNvSpPr txBox="1"/>
          <p:nvPr/>
        </p:nvSpPr>
        <p:spPr>
          <a:xfrm>
            <a:off x="8308848"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Open the files and compare the required facts and checks in the lab guide.</a:t>
            </a:r>
          </a:p>
        </p:txBody>
      </p:sp>
      <p:sp>
        <p:nvSpPr>
          <p:cNvPr id="23" name="Rounded Rectangle 22"/>
          <p:cNvSpPr/>
          <p:nvPr/>
        </p:nvSpPr>
        <p:spPr>
          <a:xfrm>
            <a:off x="594360" y="5806440"/>
            <a:ext cx="10991088" cy="438912"/>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F3EFE7"/>
                </a:solidFill>
                <a:latin typeface="Calibri"/>
              </a:rPr>
              <a:t>Detailed procedure: labs/lab-05-social-article-and-repurposing/README.md</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LAB OVERVIEW · 60 MINUTES</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F3EFE7"/>
                </a:solidFill>
                <a:latin typeface="Cambria"/>
              </a:rPr>
              <a:t>Lab 06 · Build a content calendar and editorial gate</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A39E92"/>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A39E92"/>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A39E92"/>
                </a:solidFill>
                <a:latin typeface="Calibri"/>
              </a:rPr>
              <a:t>55</a:t>
            </a:r>
          </a:p>
        </p:txBody>
      </p:sp>
      <p:sp>
        <p:nvSpPr>
          <p:cNvPr id="7" name="TextBox 6"/>
          <p:cNvSpPr txBox="1"/>
          <p:nvPr/>
        </p:nvSpPr>
        <p:spPr>
          <a:xfrm>
            <a:off x="594360" y="1828800"/>
            <a:ext cx="10789920" cy="594360"/>
          </a:xfrm>
          <a:prstGeom prst="rect">
            <a:avLst/>
          </a:prstGeom>
          <a:noFill/>
        </p:spPr>
        <p:txBody>
          <a:bodyPr wrap="square" lIns="0" rIns="0" tIns="0" bIns="0">
            <a:spAutoFit/>
          </a:bodyPr>
          <a:lstStyle/>
          <a:p>
            <a:pPr>
              <a:spcAft>
                <a:spcPts val="600"/>
              </a:spcAft>
            </a:pPr>
            <a:r>
              <a:rPr sz="2300" b="0">
                <a:solidFill>
                  <a:srgbClr val="F3EFE7"/>
                </a:solidFill>
                <a:latin typeface="Calibri"/>
              </a:rPr>
              <a:t>Create a five-post calendar with sources, dependencies and review status.</a:t>
            </a:r>
          </a:p>
        </p:txBody>
      </p:sp>
      <p:sp>
        <p:nvSpPr>
          <p:cNvPr id="8" name="Rounded Rectangle 7"/>
          <p:cNvSpPr/>
          <p:nvPr/>
        </p:nvSpPr>
        <p:spPr>
          <a:xfrm>
            <a:off x="594360"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What you’ll build</a:t>
            </a:r>
          </a:p>
        </p:txBody>
      </p:sp>
      <p:sp>
        <p:nvSpPr>
          <p:cNvPr id="12" name="TextBox 11"/>
          <p:cNvSpPr txBox="1"/>
          <p:nvPr/>
        </p:nvSpPr>
        <p:spPr>
          <a:xfrm>
            <a:off x="822960"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content/calendar.csv, content/posts.md and content/content-review.csv.</a:t>
            </a:r>
          </a:p>
        </p:txBody>
      </p:sp>
      <p:sp>
        <p:nvSpPr>
          <p:cNvPr id="13" name="Rounded Rectangle 12"/>
          <p:cNvSpPr/>
          <p:nvPr/>
        </p:nvSpPr>
        <p:spPr>
          <a:xfrm>
            <a:off x="4337304"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Why it matters</a:t>
            </a:r>
          </a:p>
        </p:txBody>
      </p:sp>
      <p:sp>
        <p:nvSpPr>
          <p:cNvPr id="17" name="TextBox 16"/>
          <p:cNvSpPr txBox="1"/>
          <p:nvPr/>
        </p:nvSpPr>
        <p:spPr>
          <a:xfrm>
            <a:off x="4565904"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Apply social articles and content planning to the same source-checked campaign.</a:t>
            </a:r>
          </a:p>
        </p:txBody>
      </p:sp>
      <p:sp>
        <p:nvSpPr>
          <p:cNvPr id="18" name="Rounded Rectangle 17"/>
          <p:cNvSpPr/>
          <p:nvPr/>
        </p:nvSpPr>
        <p:spPr>
          <a:xfrm>
            <a:off x="8080248"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Finished evidence</a:t>
            </a:r>
          </a:p>
        </p:txBody>
      </p:sp>
      <p:sp>
        <p:nvSpPr>
          <p:cNvPr id="22" name="TextBox 21"/>
          <p:cNvSpPr txBox="1"/>
          <p:nvPr/>
        </p:nvSpPr>
        <p:spPr>
          <a:xfrm>
            <a:off x="8308848"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Open the files and compare the required facts and checks in the lab guide.</a:t>
            </a:r>
          </a:p>
        </p:txBody>
      </p:sp>
      <p:sp>
        <p:nvSpPr>
          <p:cNvPr id="23" name="Rounded Rectangle 22"/>
          <p:cNvSpPr/>
          <p:nvPr/>
        </p:nvSpPr>
        <p:spPr>
          <a:xfrm>
            <a:off x="594360" y="5806440"/>
            <a:ext cx="10991088" cy="438912"/>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F3EFE7"/>
                </a:solidFill>
                <a:latin typeface="Calibri"/>
              </a:rPr>
              <a:t>Detailed procedure: labs/lab-06-content-calendar-and-quality/README.md</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RECAP · LO3</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Topic 3 recap</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56</a:t>
            </a:r>
          </a:p>
        </p:txBody>
      </p:sp>
      <p:sp>
        <p:nvSpPr>
          <p:cNvPr id="7" name="Rounded Rectangle 6"/>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0" name="TextBox 9"/>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Explain</a:t>
            </a:r>
          </a:p>
        </p:txBody>
      </p:sp>
      <p:sp>
        <p:nvSpPr>
          <p:cNvPr id="11" name="TextBox 10"/>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A social article has a useful promise. Explain why it matters to the campaign.</a:t>
            </a:r>
          </a:p>
        </p:txBody>
      </p:sp>
      <p:sp>
        <p:nvSpPr>
          <p:cNvPr id="12" name="Rounded Rectangle 11"/>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5" name="TextBox 14"/>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Show</a:t>
            </a:r>
          </a:p>
        </p:txBody>
      </p:sp>
      <p:sp>
        <p:nvSpPr>
          <p:cNvPr id="16" name="TextBox 15"/>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Open the current lab outputs and identify the evidence that supports their facts.</a:t>
            </a:r>
          </a:p>
        </p:txBody>
      </p:sp>
      <p:sp>
        <p:nvSpPr>
          <p:cNvPr id="17" name="Rounded Rectangle 16"/>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0" name="TextBox 19"/>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Improve</a:t>
            </a:r>
          </a:p>
        </p:txBody>
      </p:sp>
      <p:sp>
        <p:nvSpPr>
          <p:cNvPr id="21" name="TextBox 20"/>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Name one correction and the next check another marketer can reproduce.</a:t>
            </a:r>
          </a:p>
        </p:txBody>
      </p:sp>
      <p:sp>
        <p:nvSpPr>
          <p:cNvPr id="22" name="Rounded Rectangle 21"/>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LO3: Produce useful social articles, platform packages and a coherent content calendar.</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4 · LO4</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F3EFE7"/>
                </a:solidFill>
                <a:latin typeface="Cambria"/>
              </a:rPr>
              <a:t>Email campaign and measurement</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A39E92"/>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A39E92"/>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A39E92"/>
                </a:solidFill>
                <a:latin typeface="Calibri"/>
              </a:rPr>
              <a:t>57</a:t>
            </a:r>
          </a:p>
        </p:txBody>
      </p:sp>
      <p:sp>
        <p:nvSpPr>
          <p:cNvPr id="7" name="Oval 6"/>
          <p:cNvSpPr/>
          <p:nvPr/>
        </p:nvSpPr>
        <p:spPr>
          <a:xfrm>
            <a:off x="9601200" y="4389120"/>
            <a:ext cx="3657600" cy="3657600"/>
          </a:xfrm>
          <a:prstGeom prst="ellipse">
            <a:avLst/>
          </a:prstGeom>
          <a:solidFill>
            <a:srgbClr val="3F2D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286000"/>
            <a:ext cx="9875520" cy="1005840"/>
          </a:xfrm>
          <a:prstGeom prst="rect">
            <a:avLst/>
          </a:prstGeom>
          <a:noFill/>
        </p:spPr>
        <p:txBody>
          <a:bodyPr wrap="square" lIns="0" rIns="0" tIns="0" bIns="0">
            <a:spAutoFit/>
          </a:bodyPr>
          <a:lstStyle/>
          <a:p>
            <a:pPr>
              <a:spcAft>
                <a:spcPts val="600"/>
              </a:spcAft>
            </a:pPr>
            <a:r>
              <a:rPr sz="2500" b="0">
                <a:solidFill>
                  <a:srgbClr val="F3EFE7"/>
                </a:solidFill>
                <a:latin typeface="Calibri"/>
              </a:rPr>
              <a:t>Audience rules · sequence · evidence · handoff</a:t>
            </a:r>
          </a:p>
        </p:txBody>
      </p:sp>
      <p:sp>
        <p:nvSpPr>
          <p:cNvPr id="9" name="TextBox 8"/>
          <p:cNvSpPr txBox="1"/>
          <p:nvPr/>
        </p:nvSpPr>
        <p:spPr>
          <a:xfrm>
            <a:off x="594360" y="4069080"/>
            <a:ext cx="9875520" cy="914400"/>
          </a:xfrm>
          <a:prstGeom prst="rect">
            <a:avLst/>
          </a:prstGeom>
          <a:noFill/>
        </p:spPr>
        <p:txBody>
          <a:bodyPr wrap="square" lIns="0" rIns="0" tIns="0" bIns="0">
            <a:spAutoFit/>
          </a:bodyPr>
          <a:lstStyle/>
          <a:p>
            <a:pPr>
              <a:spcAft>
                <a:spcPts val="600"/>
              </a:spcAft>
            </a:pPr>
            <a:r>
              <a:rPr sz="2500" b="0">
                <a:solidFill>
                  <a:srgbClr val="F3EFE7"/>
                </a:solidFill>
                <a:latin typeface="Cambria"/>
              </a:rPr>
              <a:t>Understand the model. Apply it to the academy. Verify the saved result.</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4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Email is a sequence of decisions</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58</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 campaign sequence gives each message a distinct job.</a:t>
            </a:r>
          </a:p>
        </p:txBody>
      </p:sp>
      <p:sp>
        <p:nvSpPr>
          <p:cNvPr id="8" name="Rounded Rectangle 7"/>
          <p:cNvSpPr/>
          <p:nvPr/>
        </p:nvSpPr>
        <p:spPr>
          <a:xfrm>
            <a:off x="594360"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1</a:t>
            </a:r>
          </a:p>
        </p:txBody>
      </p:sp>
      <p:sp>
        <p:nvSpPr>
          <p:cNvPr id="11" name="TextBox 10"/>
          <p:cNvSpPr txBox="1"/>
          <p:nvPr/>
        </p:nvSpPr>
        <p:spPr>
          <a:xfrm>
            <a:off x="1371600"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Introduce</a:t>
            </a:r>
          </a:p>
        </p:txBody>
      </p:sp>
      <p:sp>
        <p:nvSpPr>
          <p:cNvPr id="12" name="TextBox 11"/>
          <p:cNvSpPr txBox="1"/>
          <p:nvPr/>
        </p:nvSpPr>
        <p:spPr>
          <a:xfrm>
            <a:off x="813816"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Why this course</a:t>
            </a:r>
          </a:p>
        </p:txBody>
      </p:sp>
      <p:sp>
        <p:nvSpPr>
          <p:cNvPr id="13" name="Right Arrow 12"/>
          <p:cNvSpPr/>
          <p:nvPr/>
        </p:nvSpPr>
        <p:spPr>
          <a:xfrm>
            <a:off x="4023359"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98264"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62856"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6"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2</a:t>
            </a:r>
          </a:p>
        </p:txBody>
      </p:sp>
      <p:sp>
        <p:nvSpPr>
          <p:cNvPr id="17" name="TextBox 16"/>
          <p:cNvSpPr txBox="1"/>
          <p:nvPr/>
        </p:nvSpPr>
        <p:spPr>
          <a:xfrm>
            <a:off x="5175504"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Clarify</a:t>
            </a:r>
          </a:p>
        </p:txBody>
      </p:sp>
      <p:sp>
        <p:nvSpPr>
          <p:cNvPr id="18" name="TextBox 17"/>
          <p:cNvSpPr txBox="1"/>
          <p:nvPr/>
        </p:nvSpPr>
        <p:spPr>
          <a:xfrm>
            <a:off x="4617720"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What to expect</a:t>
            </a:r>
          </a:p>
        </p:txBody>
      </p:sp>
      <p:sp>
        <p:nvSpPr>
          <p:cNvPr id="19" name="Right Arrow 18"/>
          <p:cNvSpPr/>
          <p:nvPr/>
        </p:nvSpPr>
        <p:spPr>
          <a:xfrm>
            <a:off x="7827264"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02168"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66760"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3</a:t>
            </a:r>
          </a:p>
        </p:txBody>
      </p:sp>
      <p:sp>
        <p:nvSpPr>
          <p:cNvPr id="23" name="TextBox 22"/>
          <p:cNvSpPr txBox="1"/>
          <p:nvPr/>
        </p:nvSpPr>
        <p:spPr>
          <a:xfrm>
            <a:off x="8979408"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Remind</a:t>
            </a:r>
          </a:p>
        </p:txBody>
      </p:sp>
      <p:sp>
        <p:nvSpPr>
          <p:cNvPr id="24" name="TextBox 23"/>
          <p:cNvSpPr txBox="1"/>
          <p:nvPr/>
        </p:nvSpPr>
        <p:spPr>
          <a:xfrm>
            <a:off x="8421624"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One next action</a:t>
            </a:r>
          </a:p>
        </p:txBody>
      </p:sp>
      <p:sp>
        <p:nvSpPr>
          <p:cNvPr id="25" name="Rounded Rectangle 24"/>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add fake urgency just because the last message is called a reminder.</a:t>
            </a:r>
          </a:p>
        </p:txBody>
      </p:sp>
      <p:sp>
        <p:nvSpPr>
          <p:cNvPr id="27" name="TextBox 26"/>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Email 1 introduces BAK-101, Email 2 addresses what learners practise and Email 3 reminds interested readers to view details. No deadline or seats-left claim is invented.</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4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Audience eligibility comes before copy</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59</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Segmentation chooses recipients by relevant, authorised criteria.</a:t>
            </a:r>
          </a:p>
        </p:txBody>
      </p:sp>
      <p:sp>
        <p:nvSpPr>
          <p:cNvPr id="8" name="Rounded Rectangle 7"/>
          <p:cNvSpPr/>
          <p:nvPr/>
        </p:nvSpPr>
        <p:spPr>
          <a:xfrm>
            <a:off x="594360"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1</a:t>
            </a:r>
          </a:p>
        </p:txBody>
      </p:sp>
      <p:sp>
        <p:nvSpPr>
          <p:cNvPr id="11" name="TextBox 10"/>
          <p:cNvSpPr txBox="1"/>
          <p:nvPr/>
        </p:nvSpPr>
        <p:spPr>
          <a:xfrm>
            <a:off x="1371600"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Include</a:t>
            </a:r>
          </a:p>
        </p:txBody>
      </p:sp>
      <p:sp>
        <p:nvSpPr>
          <p:cNvPr id="12" name="TextBox 11"/>
          <p:cNvSpPr txBox="1"/>
          <p:nvPr/>
        </p:nvSpPr>
        <p:spPr>
          <a:xfrm>
            <a:off x="813816"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Relevant interest</a:t>
            </a:r>
          </a:p>
        </p:txBody>
      </p:sp>
      <p:sp>
        <p:nvSpPr>
          <p:cNvPr id="13" name="Right Arrow 12"/>
          <p:cNvSpPr/>
          <p:nvPr/>
        </p:nvSpPr>
        <p:spPr>
          <a:xfrm>
            <a:off x="4023359"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98264"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62856"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6"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2</a:t>
            </a:r>
          </a:p>
        </p:txBody>
      </p:sp>
      <p:sp>
        <p:nvSpPr>
          <p:cNvPr id="17" name="TextBox 16"/>
          <p:cNvSpPr txBox="1"/>
          <p:nvPr/>
        </p:nvSpPr>
        <p:spPr>
          <a:xfrm>
            <a:off x="5175504"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Require</a:t>
            </a:r>
          </a:p>
        </p:txBody>
      </p:sp>
      <p:sp>
        <p:nvSpPr>
          <p:cNvPr id="18" name="TextBox 17"/>
          <p:cNvSpPr txBox="1"/>
          <p:nvPr/>
        </p:nvSpPr>
        <p:spPr>
          <a:xfrm>
            <a:off x="4617720"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Recorded permission</a:t>
            </a:r>
          </a:p>
        </p:txBody>
      </p:sp>
      <p:sp>
        <p:nvSpPr>
          <p:cNvPr id="19" name="Right Arrow 18"/>
          <p:cNvSpPr/>
          <p:nvPr/>
        </p:nvSpPr>
        <p:spPr>
          <a:xfrm>
            <a:off x="7827264"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02168"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66760"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3</a:t>
            </a:r>
          </a:p>
        </p:txBody>
      </p:sp>
      <p:sp>
        <p:nvSpPr>
          <p:cNvPr id="23" name="TextBox 22"/>
          <p:cNvSpPr txBox="1"/>
          <p:nvPr/>
        </p:nvSpPr>
        <p:spPr>
          <a:xfrm>
            <a:off x="8979408"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Exclude</a:t>
            </a:r>
          </a:p>
        </p:txBody>
      </p:sp>
      <p:sp>
        <p:nvSpPr>
          <p:cNvPr id="24" name="TextBox 23"/>
          <p:cNvSpPr txBox="1"/>
          <p:nvPr/>
        </p:nvSpPr>
        <p:spPr>
          <a:xfrm>
            <a:off x="8421624"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Suppressed contacts</a:t>
            </a:r>
          </a:p>
        </p:txBody>
      </p:sp>
      <p:sp>
        <p:nvSpPr>
          <p:cNvPr id="25" name="Rounded Rectangle 24"/>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infer marketing permission from a purchase or from a public email address.</a:t>
            </a:r>
          </a:p>
        </p:txBody>
      </p:sp>
      <p:sp>
        <p:nvSpPr>
          <p:cNvPr id="27" name="TextBox 26"/>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Include consent = yes, interest = bakery and suppressed = no. Exclude cooking-only interests, missing consent and suppressed contacts. All supplied addresses use example.com.</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4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Subject, preheader and body cooperate</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60</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 subject line helps a reader decide whether the message is relevant.</a:t>
            </a:r>
          </a:p>
        </p:txBody>
      </p:sp>
      <p:pic>
        <p:nvPicPr>
          <p:cNvPr id="8" name="Picture 7" descr="email-desktop.png"/>
          <p:cNvPicPr>
            <a:picLocks noChangeAspect="1"/>
          </p:cNvPicPr>
          <p:nvPr/>
        </p:nvPicPr>
        <p:blipFill>
          <a:blip r:embed="rId2"/>
          <a:stretch>
            <a:fillRect/>
          </a:stretch>
        </p:blipFill>
        <p:spPr>
          <a:xfrm>
            <a:off x="7543800" y="2331720"/>
            <a:ext cx="3200400" cy="3200400"/>
          </a:xfrm>
          <a:prstGeom prst="rect">
            <a:avLst/>
          </a:prstGeom>
        </p:spPr>
      </p:pic>
      <p:sp>
        <p:nvSpPr>
          <p:cNvPr id="9" name="Rounded Rectangle 8"/>
          <p:cNvSpPr/>
          <p:nvPr/>
        </p:nvSpPr>
        <p:spPr>
          <a:xfrm>
            <a:off x="594360" y="2560320"/>
            <a:ext cx="585216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79192"/>
            <a:ext cx="1828800" cy="411480"/>
          </a:xfrm>
          <a:prstGeom prst="rect">
            <a:avLst/>
          </a:prstGeom>
          <a:noFill/>
        </p:spPr>
        <p:txBody>
          <a:bodyPr wrap="square" lIns="0" rIns="0" tIns="0" bIns="0">
            <a:spAutoFit/>
          </a:bodyPr>
          <a:lstStyle/>
          <a:p>
            <a:pPr>
              <a:spcAft>
                <a:spcPts val="600"/>
              </a:spcAft>
            </a:pPr>
            <a:r>
              <a:rPr sz="1800" b="1">
                <a:solidFill>
                  <a:srgbClr val="3A7D7B"/>
                </a:solidFill>
                <a:latin typeface="Cambria"/>
              </a:rPr>
              <a:t>Subject</a:t>
            </a:r>
          </a:p>
        </p:txBody>
      </p:sp>
      <p:sp>
        <p:nvSpPr>
          <p:cNvPr id="11" name="TextBox 10"/>
          <p:cNvSpPr txBox="1"/>
          <p:nvPr/>
        </p:nvSpPr>
        <p:spPr>
          <a:xfrm>
            <a:off x="2743200" y="2706624"/>
            <a:ext cx="3383280" cy="411480"/>
          </a:xfrm>
          <a:prstGeom prst="rect">
            <a:avLst/>
          </a:prstGeom>
          <a:noFill/>
        </p:spPr>
        <p:txBody>
          <a:bodyPr wrap="square" lIns="0" rIns="0" tIns="0" bIns="0">
            <a:spAutoFit/>
          </a:bodyPr>
          <a:lstStyle/>
          <a:p>
            <a:pPr>
              <a:spcAft>
                <a:spcPts val="600"/>
              </a:spcAft>
            </a:pPr>
            <a:r>
              <a:rPr sz="1700" b="0">
                <a:solidFill>
                  <a:srgbClr val="21201C"/>
                </a:solidFill>
                <a:latin typeface="Calibri"/>
              </a:rPr>
              <a:t>Reason to open</a:t>
            </a:r>
          </a:p>
        </p:txBody>
      </p:sp>
      <p:sp>
        <p:nvSpPr>
          <p:cNvPr id="12" name="Rounded Rectangle 11"/>
          <p:cNvSpPr/>
          <p:nvPr/>
        </p:nvSpPr>
        <p:spPr>
          <a:xfrm>
            <a:off x="594360" y="3520439"/>
            <a:ext cx="585216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679192"/>
            <a:ext cx="1828800" cy="411480"/>
          </a:xfrm>
          <a:prstGeom prst="rect">
            <a:avLst/>
          </a:prstGeom>
          <a:noFill/>
        </p:spPr>
        <p:txBody>
          <a:bodyPr wrap="square" lIns="0" rIns="0" tIns="0" bIns="0">
            <a:spAutoFit/>
          </a:bodyPr>
          <a:lstStyle/>
          <a:p>
            <a:pPr>
              <a:spcAft>
                <a:spcPts val="600"/>
              </a:spcAft>
            </a:pPr>
            <a:r>
              <a:rPr sz="1800" b="1">
                <a:solidFill>
                  <a:srgbClr val="3A7D7B"/>
                </a:solidFill>
                <a:latin typeface="Cambria"/>
              </a:rPr>
              <a:t>Preheader</a:t>
            </a:r>
          </a:p>
        </p:txBody>
      </p:sp>
      <p:sp>
        <p:nvSpPr>
          <p:cNvPr id="14" name="TextBox 13"/>
          <p:cNvSpPr txBox="1"/>
          <p:nvPr/>
        </p:nvSpPr>
        <p:spPr>
          <a:xfrm>
            <a:off x="2743200" y="2706624"/>
            <a:ext cx="3383280" cy="411480"/>
          </a:xfrm>
          <a:prstGeom prst="rect">
            <a:avLst/>
          </a:prstGeom>
          <a:noFill/>
        </p:spPr>
        <p:txBody>
          <a:bodyPr wrap="square" lIns="0" rIns="0" tIns="0" bIns="0">
            <a:spAutoFit/>
          </a:bodyPr>
          <a:lstStyle/>
          <a:p>
            <a:pPr>
              <a:spcAft>
                <a:spcPts val="600"/>
              </a:spcAft>
            </a:pPr>
            <a:r>
              <a:rPr sz="1700" b="0">
                <a:solidFill>
                  <a:srgbClr val="21201C"/>
                </a:solidFill>
                <a:latin typeface="Calibri"/>
              </a:rPr>
              <a:t>Additional context</a:t>
            </a:r>
          </a:p>
        </p:txBody>
      </p:sp>
      <p:sp>
        <p:nvSpPr>
          <p:cNvPr id="15" name="Rounded Rectangle 14"/>
          <p:cNvSpPr/>
          <p:nvPr/>
        </p:nvSpPr>
        <p:spPr>
          <a:xfrm>
            <a:off x="594360" y="4480560"/>
            <a:ext cx="585216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679192"/>
            <a:ext cx="1828800" cy="411480"/>
          </a:xfrm>
          <a:prstGeom prst="rect">
            <a:avLst/>
          </a:prstGeom>
          <a:noFill/>
        </p:spPr>
        <p:txBody>
          <a:bodyPr wrap="square" lIns="0" rIns="0" tIns="0" bIns="0">
            <a:spAutoFit/>
          </a:bodyPr>
          <a:lstStyle/>
          <a:p>
            <a:pPr>
              <a:spcAft>
                <a:spcPts val="600"/>
              </a:spcAft>
            </a:pPr>
            <a:r>
              <a:rPr sz="1800" b="1">
                <a:solidFill>
                  <a:srgbClr val="3A7D7B"/>
                </a:solidFill>
                <a:latin typeface="Cambria"/>
              </a:rPr>
              <a:t>Body</a:t>
            </a:r>
          </a:p>
        </p:txBody>
      </p:sp>
      <p:sp>
        <p:nvSpPr>
          <p:cNvPr id="17" name="TextBox 16"/>
          <p:cNvSpPr txBox="1"/>
          <p:nvPr/>
        </p:nvSpPr>
        <p:spPr>
          <a:xfrm>
            <a:off x="2743200" y="2706624"/>
            <a:ext cx="3383280" cy="411480"/>
          </a:xfrm>
          <a:prstGeom prst="rect">
            <a:avLst/>
          </a:prstGeom>
          <a:noFill/>
        </p:spPr>
        <p:txBody>
          <a:bodyPr wrap="square" lIns="0" rIns="0" tIns="0" bIns="0">
            <a:spAutoFit/>
          </a:bodyPr>
          <a:lstStyle/>
          <a:p>
            <a:pPr>
              <a:spcAft>
                <a:spcPts val="600"/>
              </a:spcAft>
            </a:pPr>
            <a:r>
              <a:rPr sz="1700" b="0">
                <a:solidFill>
                  <a:srgbClr val="21201C"/>
                </a:solidFill>
                <a:latin typeface="Calibri"/>
              </a:rPr>
              <a:t>Fulfil the promise</a:t>
            </a:r>
          </a:p>
        </p:txBody>
      </p:sp>
      <p:sp>
        <p:nvSpPr>
          <p:cNvPr id="18" name="Rounded Rectangle 17"/>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promise a discount in the subject when the body and catalogue contain none.</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4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Personalisation needs a fallback</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61</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Personalisation should improve relevance without making unsupported assumptions.</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Known</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Explicit interest</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Missing</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Neutral fallback</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Preview</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Actual recipient view</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address someone by a broken merge tag or expose sensitive personal data in copy.</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Use Hello there when a name is absent. Refer to your interest in baking only for contacts whose synthetic record says bakery.</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4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HTML email must work without decoration</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62</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Email clients vary in layout support.</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HTML</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Simple structure</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Text</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Equivalent message</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Preview</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Client limitations</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call a browser-only preview an inbox deliverability test.</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A 600 px maximum-width template includes the course facts as live text, a CTA link, a demo unsubscribe placeholder and a plain-text sibling file.</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4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The send gate is separate</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63</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Production sending requires the approved account, audience, sender details, unsubscribe handling and current links.</a:t>
            </a:r>
          </a:p>
        </p:txBody>
      </p:sp>
      <p:sp>
        <p:nvSpPr>
          <p:cNvPr id="8" name="Rounded Rectangle 7"/>
          <p:cNvSpPr/>
          <p:nvPr/>
        </p:nvSpPr>
        <p:spPr>
          <a:xfrm>
            <a:off x="594360"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1</a:t>
            </a:r>
          </a:p>
        </p:txBody>
      </p:sp>
      <p:sp>
        <p:nvSpPr>
          <p:cNvPr id="11" name="TextBox 10"/>
          <p:cNvSpPr txBox="1"/>
          <p:nvPr/>
        </p:nvSpPr>
        <p:spPr>
          <a:xfrm>
            <a:off x="1371600"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Draft</a:t>
            </a:r>
          </a:p>
        </p:txBody>
      </p:sp>
      <p:sp>
        <p:nvSpPr>
          <p:cNvPr id="12" name="TextBox 11"/>
          <p:cNvSpPr txBox="1"/>
          <p:nvPr/>
        </p:nvSpPr>
        <p:spPr>
          <a:xfrm>
            <a:off x="813816"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Content approved</a:t>
            </a:r>
          </a:p>
        </p:txBody>
      </p:sp>
      <p:sp>
        <p:nvSpPr>
          <p:cNvPr id="13" name="Right Arrow 12"/>
          <p:cNvSpPr/>
          <p:nvPr/>
        </p:nvSpPr>
        <p:spPr>
          <a:xfrm>
            <a:off x="4023359"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98264"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62856"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6"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2</a:t>
            </a:r>
          </a:p>
        </p:txBody>
      </p:sp>
      <p:sp>
        <p:nvSpPr>
          <p:cNvPr id="17" name="TextBox 16"/>
          <p:cNvSpPr txBox="1"/>
          <p:nvPr/>
        </p:nvSpPr>
        <p:spPr>
          <a:xfrm>
            <a:off x="5175504"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Configure</a:t>
            </a:r>
          </a:p>
        </p:txBody>
      </p:sp>
      <p:sp>
        <p:nvSpPr>
          <p:cNvPr id="18" name="TextBox 17"/>
          <p:cNvSpPr txBox="1"/>
          <p:nvPr/>
        </p:nvSpPr>
        <p:spPr>
          <a:xfrm>
            <a:off x="4617720"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Sender + audience</a:t>
            </a:r>
          </a:p>
        </p:txBody>
      </p:sp>
      <p:sp>
        <p:nvSpPr>
          <p:cNvPr id="19" name="Right Arrow 18"/>
          <p:cNvSpPr/>
          <p:nvPr/>
        </p:nvSpPr>
        <p:spPr>
          <a:xfrm>
            <a:off x="7827264"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02168"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66760"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3</a:t>
            </a:r>
          </a:p>
        </p:txBody>
      </p:sp>
      <p:sp>
        <p:nvSpPr>
          <p:cNvPr id="23" name="TextBox 22"/>
          <p:cNvSpPr txBox="1"/>
          <p:nvPr/>
        </p:nvSpPr>
        <p:spPr>
          <a:xfrm>
            <a:off x="8979408"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Authorize</a:t>
            </a:r>
          </a:p>
        </p:txBody>
      </p:sp>
      <p:sp>
        <p:nvSpPr>
          <p:cNvPr id="24" name="TextBox 23"/>
          <p:cNvSpPr txBox="1"/>
          <p:nvPr/>
        </p:nvSpPr>
        <p:spPr>
          <a:xfrm>
            <a:off x="8421624"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Real send</a:t>
            </a:r>
          </a:p>
        </p:txBody>
      </p:sp>
      <p:sp>
        <p:nvSpPr>
          <p:cNvPr id="25" name="Rounded Rectangle 24"/>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allow a plugin to send because the copy has been reviewed.</a:t>
            </a:r>
          </a:p>
        </p:txBody>
      </p:sp>
      <p:sp>
        <p:nvSpPr>
          <p:cNvPr id="27" name="TextBox 26"/>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The handoff contains status classroom draft, production sender UNKNOWN and unsubscribe provider configuration UNKNOWN. The learner previews the message without uploading contacts to a service.</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4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Use a consistent tracking taxonomy</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64</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Tracking parameters identify source, medium, campaign and creative variant.</a:t>
            </a:r>
          </a:p>
        </p:txBody>
      </p:sp>
      <p:sp>
        <p:nvSpPr>
          <p:cNvPr id="8" name="Rectangle 7"/>
          <p:cNvSpPr/>
          <p:nvPr/>
        </p:nvSpPr>
        <p:spPr>
          <a:xfrm>
            <a:off x="594360" y="2697480"/>
            <a:ext cx="210312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807208"/>
            <a:ext cx="1828799" cy="274320"/>
          </a:xfrm>
          <a:prstGeom prst="rect">
            <a:avLst/>
          </a:prstGeom>
          <a:noFill/>
        </p:spPr>
        <p:txBody>
          <a:bodyPr wrap="square" lIns="0" rIns="0" tIns="0" bIns="0">
            <a:spAutoFit/>
          </a:bodyPr>
          <a:lstStyle/>
          <a:p>
            <a:pPr>
              <a:spcAft>
                <a:spcPts val="600"/>
              </a:spcAft>
            </a:pPr>
            <a:r>
              <a:rPr sz="1500" b="1">
                <a:solidFill>
                  <a:srgbClr val="F3EFE7"/>
                </a:solidFill>
                <a:latin typeface="Calibri"/>
              </a:rPr>
              <a:t>Item</a:t>
            </a:r>
          </a:p>
        </p:txBody>
      </p:sp>
      <p:sp>
        <p:nvSpPr>
          <p:cNvPr id="10" name="Rectangle 9"/>
          <p:cNvSpPr/>
          <p:nvPr/>
        </p:nvSpPr>
        <p:spPr>
          <a:xfrm>
            <a:off x="2697480" y="2697480"/>
            <a:ext cx="576072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34640" y="2807208"/>
            <a:ext cx="5486400" cy="274320"/>
          </a:xfrm>
          <a:prstGeom prst="rect">
            <a:avLst/>
          </a:prstGeom>
          <a:noFill/>
        </p:spPr>
        <p:txBody>
          <a:bodyPr wrap="square" lIns="0" rIns="0" tIns="0" bIns="0">
            <a:spAutoFit/>
          </a:bodyPr>
          <a:lstStyle/>
          <a:p>
            <a:pPr>
              <a:spcAft>
                <a:spcPts val="600"/>
              </a:spcAft>
            </a:pPr>
            <a:r>
              <a:rPr sz="1500" b="1">
                <a:solidFill>
                  <a:srgbClr val="F3EFE7"/>
                </a:solidFill>
                <a:latin typeface="Calibri"/>
              </a:rPr>
              <a:t>Evidence / criterion</a:t>
            </a:r>
          </a:p>
        </p:txBody>
      </p:sp>
      <p:sp>
        <p:nvSpPr>
          <p:cNvPr id="12" name="Rectangle 11"/>
          <p:cNvSpPr/>
          <p:nvPr/>
        </p:nvSpPr>
        <p:spPr>
          <a:xfrm>
            <a:off x="8458200" y="2697480"/>
            <a:ext cx="310896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2807208"/>
            <a:ext cx="2834640" cy="274320"/>
          </a:xfrm>
          <a:prstGeom prst="rect">
            <a:avLst/>
          </a:prstGeom>
          <a:noFill/>
        </p:spPr>
        <p:txBody>
          <a:bodyPr wrap="square" lIns="0" rIns="0" tIns="0" bIns="0">
            <a:spAutoFit/>
          </a:bodyPr>
          <a:lstStyle/>
          <a:p>
            <a:pPr>
              <a:spcAft>
                <a:spcPts val="600"/>
              </a:spcAft>
            </a:pPr>
            <a:r>
              <a:rPr sz="1500" b="1">
                <a:solidFill>
                  <a:srgbClr val="F3EFE7"/>
                </a:solidFill>
                <a:latin typeface="Calibri"/>
              </a:rPr>
              <a:t>Decision</a:t>
            </a:r>
          </a:p>
        </p:txBody>
      </p:sp>
      <p:sp>
        <p:nvSpPr>
          <p:cNvPr id="14" name="Rectangle 13"/>
          <p:cNvSpPr/>
          <p:nvPr/>
        </p:nvSpPr>
        <p:spPr>
          <a:xfrm>
            <a:off x="594360" y="3227832"/>
            <a:ext cx="21031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55848"/>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Source</a:t>
            </a:r>
          </a:p>
        </p:txBody>
      </p:sp>
      <p:sp>
        <p:nvSpPr>
          <p:cNvPr id="16" name="Rectangle 15"/>
          <p:cNvSpPr/>
          <p:nvPr/>
        </p:nvSpPr>
        <p:spPr>
          <a:xfrm>
            <a:off x="2697480" y="3227832"/>
            <a:ext cx="57607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34640" y="3355848"/>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email</a:t>
            </a:r>
          </a:p>
        </p:txBody>
      </p:sp>
      <p:sp>
        <p:nvSpPr>
          <p:cNvPr id="18" name="Rectangle 17"/>
          <p:cNvSpPr/>
          <p:nvPr/>
        </p:nvSpPr>
        <p:spPr>
          <a:xfrm>
            <a:off x="8458200" y="3227832"/>
            <a:ext cx="310896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3355848"/>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Use</a:t>
            </a:r>
          </a:p>
        </p:txBody>
      </p:sp>
      <p:sp>
        <p:nvSpPr>
          <p:cNvPr id="20" name="Rectangle 19"/>
          <p:cNvSpPr/>
          <p:nvPr/>
        </p:nvSpPr>
        <p:spPr>
          <a:xfrm>
            <a:off x="594360" y="3831335"/>
            <a:ext cx="210312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959352"/>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Campaign</a:t>
            </a:r>
          </a:p>
        </p:txBody>
      </p:sp>
      <p:sp>
        <p:nvSpPr>
          <p:cNvPr id="22" name="Rectangle 21"/>
          <p:cNvSpPr/>
          <p:nvPr/>
        </p:nvSpPr>
        <p:spPr>
          <a:xfrm>
            <a:off x="2697480" y="3831335"/>
            <a:ext cx="576072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34640" y="3959352"/>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sourdough_oct_demo</a:t>
            </a:r>
          </a:p>
        </p:txBody>
      </p:sp>
      <p:sp>
        <p:nvSpPr>
          <p:cNvPr id="24" name="Rectangle 23"/>
          <p:cNvSpPr/>
          <p:nvPr/>
        </p:nvSpPr>
        <p:spPr>
          <a:xfrm>
            <a:off x="8458200" y="3831335"/>
            <a:ext cx="310896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0" y="3959352"/>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Propose</a:t>
            </a:r>
          </a:p>
        </p:txBody>
      </p:sp>
      <p:sp>
        <p:nvSpPr>
          <p:cNvPr id="26" name="Rectangle 25"/>
          <p:cNvSpPr/>
          <p:nvPr/>
        </p:nvSpPr>
        <p:spPr>
          <a:xfrm>
            <a:off x="594360" y="4434840"/>
            <a:ext cx="21031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562856"/>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Variant</a:t>
            </a:r>
          </a:p>
        </p:txBody>
      </p:sp>
      <p:sp>
        <p:nvSpPr>
          <p:cNvPr id="28" name="Rectangle 27"/>
          <p:cNvSpPr/>
          <p:nvPr/>
        </p:nvSpPr>
        <p:spPr>
          <a:xfrm>
            <a:off x="2697480" y="4434840"/>
            <a:ext cx="57607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34640" y="4562856"/>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e1_a</a:t>
            </a:r>
          </a:p>
        </p:txBody>
      </p:sp>
      <p:sp>
        <p:nvSpPr>
          <p:cNvPr id="30" name="Rectangle 29"/>
          <p:cNvSpPr/>
          <p:nvPr/>
        </p:nvSpPr>
        <p:spPr>
          <a:xfrm>
            <a:off x="8458200" y="4434840"/>
            <a:ext cx="310896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0" y="4562856"/>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Check</a:t>
            </a:r>
          </a:p>
        </p:txBody>
      </p:sp>
      <p:sp>
        <p:nvSpPr>
          <p:cNvPr id="32" name="Rounded Rectangle 31"/>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Never put subscriber email addresses or names into URL parameters.</a:t>
            </a:r>
          </a:p>
        </p:txBody>
      </p:sp>
      <p:sp>
        <p:nvSpPr>
          <p:cNvPr id="34" name="TextBox 33"/>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utm_source = email, utm_medium = newsletter, utm_campaign = sourdough_oct_demo and utm_content = e1_a. A website would still need approved analytics to record visits and bookings.</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4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Measure the next action</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65</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Different metrics answer different questions.</a:t>
            </a:r>
          </a:p>
        </p:txBody>
      </p:sp>
      <p:sp>
        <p:nvSpPr>
          <p:cNvPr id="8" name="TextBox 7"/>
          <p:cNvSpPr txBox="1"/>
          <p:nvPr/>
        </p:nvSpPr>
        <p:spPr>
          <a:xfrm>
            <a:off x="594360" y="2971800"/>
            <a:ext cx="2103120" cy="457200"/>
          </a:xfrm>
          <a:prstGeom prst="rect">
            <a:avLst/>
          </a:prstGeom>
          <a:noFill/>
        </p:spPr>
        <p:txBody>
          <a:bodyPr wrap="square" lIns="0" rIns="0" tIns="0" bIns="0">
            <a:spAutoFit/>
          </a:bodyPr>
          <a:lstStyle/>
          <a:p>
            <a:pPr>
              <a:spcAft>
                <a:spcPts val="600"/>
              </a:spcAft>
            </a:pPr>
            <a:r>
              <a:rPr sz="2300" b="1">
                <a:solidFill>
                  <a:srgbClr val="21201C"/>
                </a:solidFill>
                <a:latin typeface="Cambria"/>
              </a:rPr>
              <a:t>Variant A</a:t>
            </a:r>
          </a:p>
        </p:txBody>
      </p:sp>
      <p:sp>
        <p:nvSpPr>
          <p:cNvPr id="9" name="Rectangle 8"/>
          <p:cNvSpPr/>
          <p:nvPr/>
        </p:nvSpPr>
        <p:spPr>
          <a:xfrm>
            <a:off x="2743200" y="2971800"/>
            <a:ext cx="5029200" cy="50292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2971800"/>
            <a:ext cx="868680" cy="457200"/>
          </a:xfrm>
          <a:prstGeom prst="rect">
            <a:avLst/>
          </a:prstGeom>
          <a:noFill/>
        </p:spPr>
        <p:txBody>
          <a:bodyPr wrap="square" lIns="0" rIns="0" tIns="0" bIns="0">
            <a:spAutoFit/>
          </a:bodyPr>
          <a:lstStyle/>
          <a:p>
            <a:pPr>
              <a:spcAft>
                <a:spcPts val="600"/>
              </a:spcAft>
            </a:pPr>
            <a:r>
              <a:rPr sz="2300" b="1">
                <a:solidFill>
                  <a:srgbClr val="21201C"/>
                </a:solidFill>
                <a:latin typeface="Calibri"/>
              </a:rPr>
              <a:t>5%</a:t>
            </a:r>
          </a:p>
        </p:txBody>
      </p:sp>
      <p:sp>
        <p:nvSpPr>
          <p:cNvPr id="11" name="TextBox 10"/>
          <p:cNvSpPr txBox="1"/>
          <p:nvPr/>
        </p:nvSpPr>
        <p:spPr>
          <a:xfrm>
            <a:off x="594360" y="4114800"/>
            <a:ext cx="2103120" cy="457200"/>
          </a:xfrm>
          <a:prstGeom prst="rect">
            <a:avLst/>
          </a:prstGeom>
          <a:noFill/>
        </p:spPr>
        <p:txBody>
          <a:bodyPr wrap="square" lIns="0" rIns="0" tIns="0" bIns="0">
            <a:spAutoFit/>
          </a:bodyPr>
          <a:lstStyle/>
          <a:p>
            <a:pPr>
              <a:spcAft>
                <a:spcPts val="600"/>
              </a:spcAft>
            </a:pPr>
            <a:r>
              <a:rPr sz="2300" b="1">
                <a:solidFill>
                  <a:srgbClr val="21201C"/>
                </a:solidFill>
                <a:latin typeface="Cambria"/>
              </a:rPr>
              <a:t>Variant B</a:t>
            </a:r>
          </a:p>
        </p:txBody>
      </p:sp>
      <p:sp>
        <p:nvSpPr>
          <p:cNvPr id="12" name="Rectangle 11"/>
          <p:cNvSpPr/>
          <p:nvPr/>
        </p:nvSpPr>
        <p:spPr>
          <a:xfrm>
            <a:off x="2743200" y="4114800"/>
            <a:ext cx="5984748" cy="502920"/>
          </a:xfrm>
          <a:prstGeom prst="rect">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5108" y="4114800"/>
            <a:ext cx="868680" cy="457200"/>
          </a:xfrm>
          <a:prstGeom prst="rect">
            <a:avLst/>
          </a:prstGeom>
          <a:noFill/>
        </p:spPr>
        <p:txBody>
          <a:bodyPr wrap="square" lIns="0" rIns="0" tIns="0" bIns="0">
            <a:spAutoFit/>
          </a:bodyPr>
          <a:lstStyle/>
          <a:p>
            <a:pPr>
              <a:spcAft>
                <a:spcPts val="600"/>
              </a:spcAft>
            </a:pPr>
            <a:r>
              <a:rPr sz="2300" b="1">
                <a:solidFill>
                  <a:srgbClr val="21201C"/>
                </a:solidFill>
                <a:latin typeface="Calibri"/>
              </a:rPr>
              <a:t>5.95%</a:t>
            </a:r>
          </a:p>
        </p:txBody>
      </p:sp>
      <p:sp>
        <p:nvSpPr>
          <p:cNvPr id="14" name="TextBox 13"/>
          <p:cNvSpPr txBox="1"/>
          <p:nvPr/>
        </p:nvSpPr>
        <p:spPr>
          <a:xfrm>
            <a:off x="594360" y="5349240"/>
            <a:ext cx="10789920" cy="320040"/>
          </a:xfrm>
          <a:prstGeom prst="rect">
            <a:avLst/>
          </a:prstGeom>
          <a:noFill/>
        </p:spPr>
        <p:txBody>
          <a:bodyPr wrap="square" lIns="0" rIns="0" tIns="0" bIns="0">
            <a:spAutoFit/>
          </a:bodyPr>
          <a:lstStyle/>
          <a:p>
            <a:pPr>
              <a:spcAft>
                <a:spcPts val="600"/>
              </a:spcAft>
            </a:pPr>
            <a:r>
              <a:rPr sz="1400" b="0">
                <a:solidFill>
                  <a:srgbClr val="67645D"/>
                </a:solidFill>
                <a:latin typeface="Calibri"/>
              </a:rPr>
              <a:t>Unique clicks ÷ delivered emails · Synthetic teaching figures</a:t>
            </a:r>
          </a:p>
        </p:txBody>
      </p:sp>
      <p:sp>
        <p:nvSpPr>
          <p:cNvPr id="15" name="Rounded Rectangle 14"/>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divide total clicks by recipients and call it a unique click rate.</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4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Opens are an imperfect signal</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66</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Open and click reports can be affected by automated activity and privacy features.</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Signal</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Reported opens</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Limit</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Privacy + bots</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Decision</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Action-based evidence</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claim revenue growth from open rate alone.</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The learner compares unique clicks and bookings in the synthetic file. Real performance and bot filtering are UNKNOWN, so the recommendation is a proposed next test rather than a sales claim.</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4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Design a controlled comparison</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67</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 useful A/B comparison changes one meaningful element while keeping audience and timing comparable.</a:t>
            </a:r>
          </a:p>
        </p:txBody>
      </p:sp>
      <p:sp>
        <p:nvSpPr>
          <p:cNvPr id="8" name="Rounded Rectangle 7"/>
          <p:cNvSpPr/>
          <p:nvPr/>
        </p:nvSpPr>
        <p:spPr>
          <a:xfrm>
            <a:off x="594360"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1</a:t>
            </a:r>
          </a:p>
        </p:txBody>
      </p:sp>
      <p:sp>
        <p:nvSpPr>
          <p:cNvPr id="11" name="TextBox 10"/>
          <p:cNvSpPr txBox="1"/>
          <p:nvPr/>
        </p:nvSpPr>
        <p:spPr>
          <a:xfrm>
            <a:off x="1371600"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Hypothesis</a:t>
            </a:r>
          </a:p>
        </p:txBody>
      </p:sp>
      <p:sp>
        <p:nvSpPr>
          <p:cNvPr id="12" name="TextBox 11"/>
          <p:cNvSpPr txBox="1"/>
          <p:nvPr/>
        </p:nvSpPr>
        <p:spPr>
          <a:xfrm>
            <a:off x="813816"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Clearer subject helps</a:t>
            </a:r>
          </a:p>
        </p:txBody>
      </p:sp>
      <p:sp>
        <p:nvSpPr>
          <p:cNvPr id="13" name="Right Arrow 12"/>
          <p:cNvSpPr/>
          <p:nvPr/>
        </p:nvSpPr>
        <p:spPr>
          <a:xfrm>
            <a:off x="4023359"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98264"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62856"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6"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2</a:t>
            </a:r>
          </a:p>
        </p:txBody>
      </p:sp>
      <p:sp>
        <p:nvSpPr>
          <p:cNvPr id="17" name="TextBox 16"/>
          <p:cNvSpPr txBox="1"/>
          <p:nvPr/>
        </p:nvSpPr>
        <p:spPr>
          <a:xfrm>
            <a:off x="5175504"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Control</a:t>
            </a:r>
          </a:p>
        </p:txBody>
      </p:sp>
      <p:sp>
        <p:nvSpPr>
          <p:cNvPr id="18" name="TextBox 17"/>
          <p:cNvSpPr txBox="1"/>
          <p:nvPr/>
        </p:nvSpPr>
        <p:spPr>
          <a:xfrm>
            <a:off x="4617720"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Same body + audience</a:t>
            </a:r>
          </a:p>
        </p:txBody>
      </p:sp>
      <p:sp>
        <p:nvSpPr>
          <p:cNvPr id="19" name="Right Arrow 18"/>
          <p:cNvSpPr/>
          <p:nvPr/>
        </p:nvSpPr>
        <p:spPr>
          <a:xfrm>
            <a:off x="7827264"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02168"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66760"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3</a:t>
            </a:r>
          </a:p>
        </p:txBody>
      </p:sp>
      <p:sp>
        <p:nvSpPr>
          <p:cNvPr id="23" name="TextBox 22"/>
          <p:cNvSpPr txBox="1"/>
          <p:nvPr/>
        </p:nvSpPr>
        <p:spPr>
          <a:xfrm>
            <a:off x="8979408"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Review</a:t>
            </a:r>
          </a:p>
        </p:txBody>
      </p:sp>
      <p:sp>
        <p:nvSpPr>
          <p:cNvPr id="24" name="TextBox 23"/>
          <p:cNvSpPr txBox="1"/>
          <p:nvPr/>
        </p:nvSpPr>
        <p:spPr>
          <a:xfrm>
            <a:off x="8421624"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Counts + uncertainty</a:t>
            </a:r>
          </a:p>
        </p:txBody>
      </p:sp>
      <p:sp>
        <p:nvSpPr>
          <p:cNvPr id="25" name="Rounded Rectangle 24"/>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If everything changes, you cannot explain which change mattered.</a:t>
            </a:r>
          </a:p>
        </p:txBody>
      </p:sp>
      <p:sp>
        <p:nvSpPr>
          <p:cNvPr id="27" name="TextBox 26"/>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Change only the subject line between A and B. Keep body, CTA and selection rule fixed. Variant B has a higher click rate in the teaching data; the sample is too small to claim a reliable lift.</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4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Handoff makes work reusable</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68</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A handoff manifest lists each file, version, purpose, source, review status and unresolved issue.</a:t>
            </a:r>
          </a:p>
        </p:txBody>
      </p:sp>
      <p:sp>
        <p:nvSpPr>
          <p:cNvPr id="8" name="Rectangle 7"/>
          <p:cNvSpPr/>
          <p:nvPr/>
        </p:nvSpPr>
        <p:spPr>
          <a:xfrm>
            <a:off x="594360" y="2697480"/>
            <a:ext cx="210312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807208"/>
            <a:ext cx="1828799" cy="274320"/>
          </a:xfrm>
          <a:prstGeom prst="rect">
            <a:avLst/>
          </a:prstGeom>
          <a:noFill/>
        </p:spPr>
        <p:txBody>
          <a:bodyPr wrap="square" lIns="0" rIns="0" tIns="0" bIns="0">
            <a:spAutoFit/>
          </a:bodyPr>
          <a:lstStyle/>
          <a:p>
            <a:pPr>
              <a:spcAft>
                <a:spcPts val="600"/>
              </a:spcAft>
            </a:pPr>
            <a:r>
              <a:rPr sz="1500" b="1">
                <a:solidFill>
                  <a:srgbClr val="F3EFE7"/>
                </a:solidFill>
                <a:latin typeface="Calibri"/>
              </a:rPr>
              <a:t>Item</a:t>
            </a:r>
          </a:p>
        </p:txBody>
      </p:sp>
      <p:sp>
        <p:nvSpPr>
          <p:cNvPr id="10" name="Rectangle 9"/>
          <p:cNvSpPr/>
          <p:nvPr/>
        </p:nvSpPr>
        <p:spPr>
          <a:xfrm>
            <a:off x="2697480" y="2697480"/>
            <a:ext cx="576072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34640" y="2807208"/>
            <a:ext cx="5486400" cy="274320"/>
          </a:xfrm>
          <a:prstGeom prst="rect">
            <a:avLst/>
          </a:prstGeom>
          <a:noFill/>
        </p:spPr>
        <p:txBody>
          <a:bodyPr wrap="square" lIns="0" rIns="0" tIns="0" bIns="0">
            <a:spAutoFit/>
          </a:bodyPr>
          <a:lstStyle/>
          <a:p>
            <a:pPr>
              <a:spcAft>
                <a:spcPts val="600"/>
              </a:spcAft>
            </a:pPr>
            <a:r>
              <a:rPr sz="1500" b="1">
                <a:solidFill>
                  <a:srgbClr val="F3EFE7"/>
                </a:solidFill>
                <a:latin typeface="Calibri"/>
              </a:rPr>
              <a:t>Evidence / criterion</a:t>
            </a:r>
          </a:p>
        </p:txBody>
      </p:sp>
      <p:sp>
        <p:nvSpPr>
          <p:cNvPr id="12" name="Rectangle 11"/>
          <p:cNvSpPr/>
          <p:nvPr/>
        </p:nvSpPr>
        <p:spPr>
          <a:xfrm>
            <a:off x="8458200" y="2697480"/>
            <a:ext cx="310896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2807208"/>
            <a:ext cx="2834640" cy="274320"/>
          </a:xfrm>
          <a:prstGeom prst="rect">
            <a:avLst/>
          </a:prstGeom>
          <a:noFill/>
        </p:spPr>
        <p:txBody>
          <a:bodyPr wrap="square" lIns="0" rIns="0" tIns="0" bIns="0">
            <a:spAutoFit/>
          </a:bodyPr>
          <a:lstStyle/>
          <a:p>
            <a:pPr>
              <a:spcAft>
                <a:spcPts val="600"/>
              </a:spcAft>
            </a:pPr>
            <a:r>
              <a:rPr sz="1500" b="1">
                <a:solidFill>
                  <a:srgbClr val="F3EFE7"/>
                </a:solidFill>
                <a:latin typeface="Calibri"/>
              </a:rPr>
              <a:t>Decision</a:t>
            </a:r>
          </a:p>
        </p:txBody>
      </p:sp>
      <p:sp>
        <p:nvSpPr>
          <p:cNvPr id="14" name="Rectangle 13"/>
          <p:cNvSpPr/>
          <p:nvPr/>
        </p:nvSpPr>
        <p:spPr>
          <a:xfrm>
            <a:off x="594360" y="3227832"/>
            <a:ext cx="21031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55848"/>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Inventory</a:t>
            </a:r>
          </a:p>
        </p:txBody>
      </p:sp>
      <p:sp>
        <p:nvSpPr>
          <p:cNvPr id="16" name="Rectangle 15"/>
          <p:cNvSpPr/>
          <p:nvPr/>
        </p:nvSpPr>
        <p:spPr>
          <a:xfrm>
            <a:off x="2697480" y="3227832"/>
            <a:ext cx="57607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34640" y="3355848"/>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Files + version</a:t>
            </a:r>
          </a:p>
        </p:txBody>
      </p:sp>
      <p:sp>
        <p:nvSpPr>
          <p:cNvPr id="18" name="Rectangle 17"/>
          <p:cNvSpPr/>
          <p:nvPr/>
        </p:nvSpPr>
        <p:spPr>
          <a:xfrm>
            <a:off x="8458200" y="3227832"/>
            <a:ext cx="310896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3355848"/>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Use</a:t>
            </a:r>
          </a:p>
        </p:txBody>
      </p:sp>
      <p:sp>
        <p:nvSpPr>
          <p:cNvPr id="20" name="Rectangle 19"/>
          <p:cNvSpPr/>
          <p:nvPr/>
        </p:nvSpPr>
        <p:spPr>
          <a:xfrm>
            <a:off x="594360" y="3831335"/>
            <a:ext cx="210312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959352"/>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Evidence</a:t>
            </a:r>
          </a:p>
        </p:txBody>
      </p:sp>
      <p:sp>
        <p:nvSpPr>
          <p:cNvPr id="22" name="Rectangle 21"/>
          <p:cNvSpPr/>
          <p:nvPr/>
        </p:nvSpPr>
        <p:spPr>
          <a:xfrm>
            <a:off x="2697480" y="3831335"/>
            <a:ext cx="576072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34640" y="3959352"/>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Claims + review</a:t>
            </a:r>
          </a:p>
        </p:txBody>
      </p:sp>
      <p:sp>
        <p:nvSpPr>
          <p:cNvPr id="24" name="Rectangle 23"/>
          <p:cNvSpPr/>
          <p:nvPr/>
        </p:nvSpPr>
        <p:spPr>
          <a:xfrm>
            <a:off x="8458200" y="3831335"/>
            <a:ext cx="310896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0" y="3959352"/>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Propose</a:t>
            </a:r>
          </a:p>
        </p:txBody>
      </p:sp>
      <p:sp>
        <p:nvSpPr>
          <p:cNvPr id="26" name="Rectangle 25"/>
          <p:cNvSpPr/>
          <p:nvPr/>
        </p:nvSpPr>
        <p:spPr>
          <a:xfrm>
            <a:off x="594360" y="4434840"/>
            <a:ext cx="21031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562856"/>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Holds</a:t>
            </a:r>
          </a:p>
        </p:txBody>
      </p:sp>
      <p:sp>
        <p:nvSpPr>
          <p:cNvPr id="28" name="Rectangle 27"/>
          <p:cNvSpPr/>
          <p:nvPr/>
        </p:nvSpPr>
        <p:spPr>
          <a:xfrm>
            <a:off x="2697480" y="4434840"/>
            <a:ext cx="57607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34640" y="4562856"/>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Unknowns + owner</a:t>
            </a:r>
          </a:p>
        </p:txBody>
      </p:sp>
      <p:sp>
        <p:nvSpPr>
          <p:cNvPr id="30" name="Rectangle 29"/>
          <p:cNvSpPr/>
          <p:nvPr/>
        </p:nvSpPr>
        <p:spPr>
          <a:xfrm>
            <a:off x="8458200" y="4434840"/>
            <a:ext cx="310896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0" y="4562856"/>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Check</a:t>
            </a:r>
          </a:p>
        </p:txBody>
      </p:sp>
      <p:sp>
        <p:nvSpPr>
          <p:cNvPr id="32" name="Rounded Rectangle 31"/>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hide unresolved facts in an appendix while labelling the campaign final.</a:t>
            </a:r>
          </a:p>
        </p:txBody>
      </p:sp>
      <p:sp>
        <p:nvSpPr>
          <p:cNvPr id="34" name="TextBox 33"/>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The package includes the flyer, article, calendar, three emails, segmentation result and metrics note. All are marked classroom draft; live account settings and real launch targets remain UNKNOWN.</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TOPIC 4 · CONCEPT</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Checkpoint: defend the recommendation</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69</a:t>
            </a:r>
          </a:p>
        </p:txBody>
      </p:sp>
      <p:sp>
        <p:nvSpPr>
          <p:cNvPr id="7" name="TextBox 6"/>
          <p:cNvSpPr txBox="1"/>
          <p:nvPr/>
        </p:nvSpPr>
        <p:spPr>
          <a:xfrm>
            <a:off x="594360" y="1810512"/>
            <a:ext cx="10972800" cy="566928"/>
          </a:xfrm>
          <a:prstGeom prst="rect">
            <a:avLst/>
          </a:prstGeom>
          <a:noFill/>
        </p:spPr>
        <p:txBody>
          <a:bodyPr wrap="square" lIns="0" rIns="0" tIns="0" bIns="0">
            <a:spAutoFit/>
          </a:bodyPr>
          <a:lstStyle/>
          <a:p>
            <a:pPr>
              <a:spcAft>
                <a:spcPts val="600"/>
              </a:spcAft>
            </a:pPr>
            <a:r>
              <a:rPr sz="1800" b="0">
                <a:solidFill>
                  <a:srgbClr val="21201C"/>
                </a:solidFill>
                <a:latin typeface="Calibri"/>
              </a:rPr>
              <a:t>The final checkpoint asks the learner to explain a decision using the assets and data.</a:t>
            </a:r>
          </a:p>
        </p:txBody>
      </p:sp>
      <p:sp>
        <p:nvSpPr>
          <p:cNvPr id="8" name="Rounded Rectangle 7"/>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Observed</a:t>
            </a:r>
          </a:p>
        </p:txBody>
      </p:sp>
      <p:sp>
        <p:nvSpPr>
          <p:cNvPr id="12" name="TextBox 11"/>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Synthetic counts</a:t>
            </a:r>
          </a:p>
        </p:txBody>
      </p:sp>
      <p:sp>
        <p:nvSpPr>
          <p:cNvPr id="13" name="Rounded Rectangle 12"/>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Uncertain</a:t>
            </a:r>
          </a:p>
        </p:txBody>
      </p:sp>
      <p:sp>
        <p:nvSpPr>
          <p:cNvPr id="17" name="TextBox 16"/>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Reliable lift</a:t>
            </a:r>
          </a:p>
        </p:txBody>
      </p:sp>
      <p:sp>
        <p:nvSpPr>
          <p:cNvPr id="18" name="Rounded Rectangle 17"/>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Next</a:t>
            </a:r>
          </a:p>
        </p:txBody>
      </p:sp>
      <p:sp>
        <p:nvSpPr>
          <p:cNvPr id="22" name="TextBox 21"/>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One controlled test</a:t>
            </a:r>
          </a:p>
        </p:txBody>
      </p:sp>
      <p:sp>
        <p:nvSpPr>
          <p:cNvPr id="23" name="Rounded Rectangle 22"/>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CHECK · Do not confuse completing the classroom deliverables with publishing a real campaign.</a:t>
            </a:r>
          </a:p>
        </p:txBody>
      </p:sp>
      <p:sp>
        <p:nvSpPr>
          <p:cNvPr id="25" name="TextBox 24"/>
          <p:cNvSpPr txBox="1"/>
          <p:nvPr/>
        </p:nvSpPr>
        <p:spPr>
          <a:xfrm>
            <a:off x="594360" y="5056632"/>
            <a:ext cx="10972800" cy="566928"/>
          </a:xfrm>
          <a:prstGeom prst="rect">
            <a:avLst/>
          </a:prstGeom>
          <a:noFill/>
        </p:spPr>
        <p:txBody>
          <a:bodyPr wrap="square" lIns="0" rIns="0" tIns="0" bIns="0">
            <a:spAutoFit/>
          </a:bodyPr>
          <a:lstStyle/>
          <a:p>
            <a:pPr>
              <a:spcAft>
                <a:spcPts val="600"/>
              </a:spcAft>
            </a:pPr>
            <a:r>
              <a:rPr sz="1500" b="0">
                <a:solidFill>
                  <a:srgbClr val="67645D"/>
                </a:solidFill>
                <a:latin typeface="Calibri"/>
              </a:rPr>
              <a:t>The proposed next test is a clearer subject line with a longer observation window. The learner retains the selected course facts, audience rule and review package rather than reporting invented business success.</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LAB OVERVIEW · 85 MINUTES</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F3EFE7"/>
                </a:solidFill>
                <a:latin typeface="Cambria"/>
              </a:rPr>
              <a:t>Lab 07 · Prepare a segmented email campaign</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A39E92"/>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A39E92"/>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A39E92"/>
                </a:solidFill>
                <a:latin typeface="Calibri"/>
              </a:rPr>
              <a:t>70</a:t>
            </a:r>
          </a:p>
        </p:txBody>
      </p:sp>
      <p:sp>
        <p:nvSpPr>
          <p:cNvPr id="7" name="TextBox 6"/>
          <p:cNvSpPr txBox="1"/>
          <p:nvPr/>
        </p:nvSpPr>
        <p:spPr>
          <a:xfrm>
            <a:off x="594360" y="1828800"/>
            <a:ext cx="10789920" cy="594360"/>
          </a:xfrm>
          <a:prstGeom prst="rect">
            <a:avLst/>
          </a:prstGeom>
          <a:noFill/>
        </p:spPr>
        <p:txBody>
          <a:bodyPr wrap="square" lIns="0" rIns="0" tIns="0" bIns="0">
            <a:spAutoFit/>
          </a:bodyPr>
          <a:lstStyle/>
          <a:p>
            <a:pPr>
              <a:spcAft>
                <a:spcPts val="600"/>
              </a:spcAft>
            </a:pPr>
            <a:r>
              <a:rPr sz="2300" b="0">
                <a:solidFill>
                  <a:srgbClr val="F3EFE7"/>
                </a:solidFill>
                <a:latin typeface="Calibri"/>
              </a:rPr>
              <a:t>Build an unsent three-email sequence for an explicitly eligible synthetic audience.</a:t>
            </a:r>
          </a:p>
        </p:txBody>
      </p:sp>
      <p:sp>
        <p:nvSpPr>
          <p:cNvPr id="8" name="Rounded Rectangle 7"/>
          <p:cNvSpPr/>
          <p:nvPr/>
        </p:nvSpPr>
        <p:spPr>
          <a:xfrm>
            <a:off x="594360"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What you’ll build</a:t>
            </a:r>
          </a:p>
        </p:txBody>
      </p:sp>
      <p:sp>
        <p:nvSpPr>
          <p:cNvPr id="12" name="TextBox 11"/>
          <p:cNvSpPr txBox="1"/>
          <p:nvPr/>
        </p:nvSpPr>
        <p:spPr>
          <a:xfrm>
            <a:off x="822960"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email/sequence.md, email/email-1.html, email/email-1.txt, email/segment.csv and email/send-checklist.md.</a:t>
            </a:r>
          </a:p>
        </p:txBody>
      </p:sp>
      <p:sp>
        <p:nvSpPr>
          <p:cNvPr id="13" name="Rounded Rectangle 12"/>
          <p:cNvSpPr/>
          <p:nvPr/>
        </p:nvSpPr>
        <p:spPr>
          <a:xfrm>
            <a:off x="4337304"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Why it matters</a:t>
            </a:r>
          </a:p>
        </p:txBody>
      </p:sp>
      <p:sp>
        <p:nvSpPr>
          <p:cNvPr id="17" name="TextBox 16"/>
          <p:cNvSpPr txBox="1"/>
          <p:nvPr/>
        </p:nvSpPr>
        <p:spPr>
          <a:xfrm>
            <a:off x="4565904"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Apply email campaign and measurement to the same source-checked campaign.</a:t>
            </a:r>
          </a:p>
        </p:txBody>
      </p:sp>
      <p:sp>
        <p:nvSpPr>
          <p:cNvPr id="18" name="Rounded Rectangle 17"/>
          <p:cNvSpPr/>
          <p:nvPr/>
        </p:nvSpPr>
        <p:spPr>
          <a:xfrm>
            <a:off x="8080248"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Finished evidence</a:t>
            </a:r>
          </a:p>
        </p:txBody>
      </p:sp>
      <p:sp>
        <p:nvSpPr>
          <p:cNvPr id="22" name="TextBox 21"/>
          <p:cNvSpPr txBox="1"/>
          <p:nvPr/>
        </p:nvSpPr>
        <p:spPr>
          <a:xfrm>
            <a:off x="8308848"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Open the files and compare the required facts and checks in the lab guide.</a:t>
            </a:r>
          </a:p>
        </p:txBody>
      </p:sp>
      <p:sp>
        <p:nvSpPr>
          <p:cNvPr id="23" name="Rounded Rectangle 22"/>
          <p:cNvSpPr/>
          <p:nvPr/>
        </p:nvSpPr>
        <p:spPr>
          <a:xfrm>
            <a:off x="594360" y="5806440"/>
            <a:ext cx="10991088" cy="438912"/>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F3EFE7"/>
                </a:solidFill>
                <a:latin typeface="Calibri"/>
              </a:rPr>
              <a:t>Detailed procedure: labs/lab-07-email-sequence-and-segmentation/README.md</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LAB OVERVIEW · 50 MINUTES</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F3EFE7"/>
                </a:solidFill>
                <a:latin typeface="Cambria"/>
              </a:rPr>
              <a:t>Lab 08 · Measure and hand off the campaign</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A39E92"/>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A39E92"/>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A39E92"/>
                </a:solidFill>
                <a:latin typeface="Calibri"/>
              </a:rPr>
              <a:t>71</a:t>
            </a:r>
          </a:p>
        </p:txBody>
      </p:sp>
      <p:sp>
        <p:nvSpPr>
          <p:cNvPr id="7" name="TextBox 6"/>
          <p:cNvSpPr txBox="1"/>
          <p:nvPr/>
        </p:nvSpPr>
        <p:spPr>
          <a:xfrm>
            <a:off x="594360" y="1828800"/>
            <a:ext cx="10789920" cy="594360"/>
          </a:xfrm>
          <a:prstGeom prst="rect">
            <a:avLst/>
          </a:prstGeom>
          <a:noFill/>
        </p:spPr>
        <p:txBody>
          <a:bodyPr wrap="square" lIns="0" rIns="0" tIns="0" bIns="0">
            <a:spAutoFit/>
          </a:bodyPr>
          <a:lstStyle/>
          <a:p>
            <a:pPr>
              <a:spcAft>
                <a:spcPts val="600"/>
              </a:spcAft>
            </a:pPr>
            <a:r>
              <a:rPr sz="2300" b="0">
                <a:solidFill>
                  <a:srgbClr val="F3EFE7"/>
                </a:solidFill>
                <a:latin typeface="Calibri"/>
              </a:rPr>
              <a:t>Interpret synthetic results and package a source-checked, reviewable campaign handoff.</a:t>
            </a:r>
          </a:p>
        </p:txBody>
      </p:sp>
      <p:sp>
        <p:nvSpPr>
          <p:cNvPr id="8" name="Rounded Rectangle 7"/>
          <p:cNvSpPr/>
          <p:nvPr/>
        </p:nvSpPr>
        <p:spPr>
          <a:xfrm>
            <a:off x="594360"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1" name="TextBox 10"/>
          <p:cNvSpPr txBox="1"/>
          <p:nvPr/>
        </p:nvSpPr>
        <p:spPr>
          <a:xfrm>
            <a:off x="1344168"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What you’ll build</a:t>
            </a:r>
          </a:p>
        </p:txBody>
      </p:sp>
      <p:sp>
        <p:nvSpPr>
          <p:cNvPr id="12" name="TextBox 11"/>
          <p:cNvSpPr txBox="1"/>
          <p:nvPr/>
        </p:nvSpPr>
        <p:spPr>
          <a:xfrm>
            <a:off x="822960"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campaign/metrics.csv, campaign/recommendation.md, campaign/manifest.csv and campaign/handoff.md.</a:t>
            </a:r>
          </a:p>
        </p:txBody>
      </p:sp>
      <p:sp>
        <p:nvSpPr>
          <p:cNvPr id="13" name="Rounded Rectangle 12"/>
          <p:cNvSpPr/>
          <p:nvPr/>
        </p:nvSpPr>
        <p:spPr>
          <a:xfrm>
            <a:off x="4337304"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01896"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1896"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6" name="TextBox 15"/>
          <p:cNvSpPr txBox="1"/>
          <p:nvPr/>
        </p:nvSpPr>
        <p:spPr>
          <a:xfrm>
            <a:off x="5087112"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Why it matters</a:t>
            </a:r>
          </a:p>
        </p:txBody>
      </p:sp>
      <p:sp>
        <p:nvSpPr>
          <p:cNvPr id="17" name="TextBox 16"/>
          <p:cNvSpPr txBox="1"/>
          <p:nvPr/>
        </p:nvSpPr>
        <p:spPr>
          <a:xfrm>
            <a:off x="4565904"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Apply email campaign and measurement to the same source-checked campaign.</a:t>
            </a:r>
          </a:p>
        </p:txBody>
      </p:sp>
      <p:sp>
        <p:nvSpPr>
          <p:cNvPr id="18" name="Rounded Rectangle 17"/>
          <p:cNvSpPr/>
          <p:nvPr/>
        </p:nvSpPr>
        <p:spPr>
          <a:xfrm>
            <a:off x="8080248" y="2743200"/>
            <a:ext cx="3514344" cy="2240280"/>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4840" y="294436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4840" y="297180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1" name="TextBox 20"/>
          <p:cNvSpPr txBox="1"/>
          <p:nvPr/>
        </p:nvSpPr>
        <p:spPr>
          <a:xfrm>
            <a:off x="8830056" y="2999232"/>
            <a:ext cx="2599944" cy="548640"/>
          </a:xfrm>
          <a:prstGeom prst="rect">
            <a:avLst/>
          </a:prstGeom>
          <a:noFill/>
        </p:spPr>
        <p:txBody>
          <a:bodyPr wrap="square" lIns="0" rIns="0" tIns="0" bIns="0">
            <a:spAutoFit/>
          </a:bodyPr>
          <a:lstStyle/>
          <a:p>
            <a:pPr>
              <a:spcAft>
                <a:spcPts val="600"/>
              </a:spcAft>
            </a:pPr>
            <a:r>
              <a:rPr sz="2100" b="1">
                <a:solidFill>
                  <a:srgbClr val="F3EFE7"/>
                </a:solidFill>
                <a:latin typeface="Cambria"/>
              </a:rPr>
              <a:t>Finished evidence</a:t>
            </a:r>
          </a:p>
        </p:txBody>
      </p:sp>
      <p:sp>
        <p:nvSpPr>
          <p:cNvPr id="22" name="TextBox 21"/>
          <p:cNvSpPr txBox="1"/>
          <p:nvPr/>
        </p:nvSpPr>
        <p:spPr>
          <a:xfrm>
            <a:off x="8308848" y="3675887"/>
            <a:ext cx="3057144" cy="1051560"/>
          </a:xfrm>
          <a:prstGeom prst="rect">
            <a:avLst/>
          </a:prstGeom>
          <a:noFill/>
        </p:spPr>
        <p:txBody>
          <a:bodyPr wrap="square" lIns="0" rIns="0" tIns="0" bIns="0">
            <a:spAutoFit/>
          </a:bodyPr>
          <a:lstStyle/>
          <a:p>
            <a:pPr>
              <a:spcAft>
                <a:spcPts val="600"/>
              </a:spcAft>
            </a:pPr>
            <a:r>
              <a:rPr sz="1800" b="0">
                <a:solidFill>
                  <a:srgbClr val="F3EFE7"/>
                </a:solidFill>
                <a:latin typeface="Calibri"/>
              </a:rPr>
              <a:t>Open the files and compare the required facts and checks in the lab guide.</a:t>
            </a:r>
          </a:p>
        </p:txBody>
      </p:sp>
      <p:sp>
        <p:nvSpPr>
          <p:cNvPr id="23" name="Rounded Rectangle 22"/>
          <p:cNvSpPr/>
          <p:nvPr/>
        </p:nvSpPr>
        <p:spPr>
          <a:xfrm>
            <a:off x="594360" y="5806440"/>
            <a:ext cx="10991088" cy="438912"/>
          </a:xfrm>
          <a:prstGeom prst="roundRect">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F3EFE7"/>
                </a:solidFill>
                <a:latin typeface="Calibri"/>
              </a:rPr>
              <a:t>Detailed procedure: labs/lab-08-measurement-and-campaign-handoff/README.md</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RECAP · LO4</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Topic 4 recap</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72</a:t>
            </a:r>
          </a:p>
        </p:txBody>
      </p:sp>
      <p:sp>
        <p:nvSpPr>
          <p:cNvPr id="7" name="Rounded Rectangle 6"/>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0" name="TextBox 9"/>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Explain</a:t>
            </a:r>
          </a:p>
        </p:txBody>
      </p:sp>
      <p:sp>
        <p:nvSpPr>
          <p:cNvPr id="11" name="TextBox 10"/>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Email is a sequence of decisions. Explain why it matters to the campaign.</a:t>
            </a:r>
          </a:p>
        </p:txBody>
      </p:sp>
      <p:sp>
        <p:nvSpPr>
          <p:cNvPr id="12" name="Rounded Rectangle 11"/>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5" name="TextBox 14"/>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Show</a:t>
            </a:r>
          </a:p>
        </p:txBody>
      </p:sp>
      <p:sp>
        <p:nvSpPr>
          <p:cNvPr id="16" name="TextBox 15"/>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Open the current lab outputs and identify the evidence that supports their facts.</a:t>
            </a:r>
          </a:p>
        </p:txBody>
      </p:sp>
      <p:sp>
        <p:nvSpPr>
          <p:cNvPr id="17" name="Rounded Rectangle 16"/>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0" name="TextBox 19"/>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Improve</a:t>
            </a:r>
          </a:p>
        </p:txBody>
      </p:sp>
      <p:sp>
        <p:nvSpPr>
          <p:cNvPr id="21" name="TextBox 20"/>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Name one correction and the next check another marketer can reproduce.</a:t>
            </a:r>
          </a:p>
        </p:txBody>
      </p:sp>
      <p:sp>
        <p:nvSpPr>
          <p:cNvPr id="22" name="Rounded Rectangle 21"/>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LO4: Prepare a segmented email sequence, interpret synthetic campaign metrics and hand off a reviewable package.</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WRAP-UP</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What you achieved</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73</a:t>
            </a:r>
          </a:p>
        </p:txBody>
      </p:sp>
      <p:sp>
        <p:nvSpPr>
          <p:cNvPr id="7" name="Rounded Rectangle 6"/>
          <p:cNvSpPr/>
          <p:nvPr/>
        </p:nvSpPr>
        <p:spPr>
          <a:xfrm>
            <a:off x="594360"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58952"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1</a:t>
            </a:r>
          </a:p>
        </p:txBody>
      </p:sp>
      <p:sp>
        <p:nvSpPr>
          <p:cNvPr id="10" name="TextBox 9"/>
          <p:cNvSpPr txBox="1"/>
          <p:nvPr/>
        </p:nvSpPr>
        <p:spPr>
          <a:xfrm>
            <a:off x="1344168"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Consistent offer</a:t>
            </a:r>
          </a:p>
        </p:txBody>
      </p:sp>
      <p:sp>
        <p:nvSpPr>
          <p:cNvPr id="11" name="TextBox 10"/>
          <p:cNvSpPr txBox="1"/>
          <p:nvPr/>
        </p:nvSpPr>
        <p:spPr>
          <a:xfrm>
            <a:off x="822960"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The flyer, social article and email all use one selected catalogue record.</a:t>
            </a:r>
          </a:p>
        </p:txBody>
      </p:sp>
      <p:sp>
        <p:nvSpPr>
          <p:cNvPr id="12" name="Rounded Rectangle 11"/>
          <p:cNvSpPr/>
          <p:nvPr/>
        </p:nvSpPr>
        <p:spPr>
          <a:xfrm>
            <a:off x="4337304"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01896"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1896"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2</a:t>
            </a:r>
          </a:p>
        </p:txBody>
      </p:sp>
      <p:sp>
        <p:nvSpPr>
          <p:cNvPr id="15" name="TextBox 14"/>
          <p:cNvSpPr txBox="1"/>
          <p:nvPr/>
        </p:nvSpPr>
        <p:spPr>
          <a:xfrm>
            <a:off x="5087112"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Reviewable assets</a:t>
            </a:r>
          </a:p>
        </p:txBody>
      </p:sp>
      <p:sp>
        <p:nvSpPr>
          <p:cNvPr id="16" name="TextBox 15"/>
          <p:cNvSpPr txBox="1"/>
          <p:nvPr/>
        </p:nvSpPr>
        <p:spPr>
          <a:xfrm>
            <a:off x="4565904"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Editable sources, proofs, audience rule and manifest are saved.</a:t>
            </a:r>
          </a:p>
        </p:txBody>
      </p:sp>
      <p:sp>
        <p:nvSpPr>
          <p:cNvPr id="17" name="Rounded Rectangle 16"/>
          <p:cNvSpPr/>
          <p:nvPr/>
        </p:nvSpPr>
        <p:spPr>
          <a:xfrm>
            <a:off x="8080248" y="2560320"/>
            <a:ext cx="3514344"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44840" y="2761488"/>
            <a:ext cx="411480" cy="411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4840" y="2788920"/>
            <a:ext cx="411480" cy="320040"/>
          </a:xfrm>
          <a:prstGeom prst="rect">
            <a:avLst/>
          </a:prstGeom>
          <a:noFill/>
        </p:spPr>
        <p:txBody>
          <a:bodyPr wrap="square" lIns="0" rIns="0" tIns="0" bIns="0">
            <a:spAutoFit/>
          </a:bodyPr>
          <a:lstStyle/>
          <a:p>
            <a:pPr algn="ctr">
              <a:spcAft>
                <a:spcPts val="600"/>
              </a:spcAft>
            </a:pPr>
            <a:r>
              <a:rPr sz="1500" b="1">
                <a:solidFill>
                  <a:srgbClr val="F3EFE7"/>
                </a:solidFill>
                <a:latin typeface="Calibri"/>
              </a:rPr>
              <a:t>3</a:t>
            </a:r>
          </a:p>
        </p:txBody>
      </p:sp>
      <p:sp>
        <p:nvSpPr>
          <p:cNvPr id="20" name="TextBox 19"/>
          <p:cNvSpPr txBox="1"/>
          <p:nvPr/>
        </p:nvSpPr>
        <p:spPr>
          <a:xfrm>
            <a:off x="8830056" y="2816352"/>
            <a:ext cx="2599944" cy="548640"/>
          </a:xfrm>
          <a:prstGeom prst="rect">
            <a:avLst/>
          </a:prstGeom>
          <a:noFill/>
        </p:spPr>
        <p:txBody>
          <a:bodyPr wrap="square" lIns="0" rIns="0" tIns="0" bIns="0">
            <a:spAutoFit/>
          </a:bodyPr>
          <a:lstStyle/>
          <a:p>
            <a:pPr>
              <a:spcAft>
                <a:spcPts val="600"/>
              </a:spcAft>
            </a:pPr>
            <a:r>
              <a:rPr sz="2100" b="1">
                <a:solidFill>
                  <a:srgbClr val="21201C"/>
                </a:solidFill>
                <a:latin typeface="Cambria"/>
              </a:rPr>
              <a:t>Evidence-based next step</a:t>
            </a:r>
          </a:p>
        </p:txBody>
      </p:sp>
      <p:sp>
        <p:nvSpPr>
          <p:cNvPr id="21" name="TextBox 20"/>
          <p:cNvSpPr txBox="1"/>
          <p:nvPr/>
        </p:nvSpPr>
        <p:spPr>
          <a:xfrm>
            <a:off x="8308848" y="3493008"/>
            <a:ext cx="3057144" cy="1051560"/>
          </a:xfrm>
          <a:prstGeom prst="rect">
            <a:avLst/>
          </a:prstGeom>
          <a:noFill/>
        </p:spPr>
        <p:txBody>
          <a:bodyPr wrap="square" lIns="0" rIns="0" tIns="0" bIns="0">
            <a:spAutoFit/>
          </a:bodyPr>
          <a:lstStyle/>
          <a:p>
            <a:pPr>
              <a:spcAft>
                <a:spcPts val="600"/>
              </a:spcAft>
            </a:pPr>
            <a:r>
              <a:rPr sz="1800" b="0">
                <a:solidFill>
                  <a:srgbClr val="67645D"/>
                </a:solidFill>
                <a:latin typeface="Calibri"/>
              </a:rPr>
              <a:t>Synthetic metrics support a proposed test, with limitations stated.</a:t>
            </a:r>
          </a:p>
        </p:txBody>
      </p:sp>
      <p:sp>
        <p:nvSpPr>
          <p:cNvPr id="22" name="Rounded Rectangle 21"/>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Completing the classroom package is distinct from launching a real campaign.</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NEXT STEPS</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Keep practising</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74</a:t>
            </a:r>
          </a:p>
        </p:txBody>
      </p:sp>
      <p:sp>
        <p:nvSpPr>
          <p:cNvPr id="7" name="Rounded Rectangle 6"/>
          <p:cNvSpPr/>
          <p:nvPr/>
        </p:nvSpPr>
        <p:spPr>
          <a:xfrm>
            <a:off x="594360"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58952"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1</a:t>
            </a:r>
          </a:p>
        </p:txBody>
      </p:sp>
      <p:sp>
        <p:nvSpPr>
          <p:cNvPr id="10" name="TextBox 9"/>
          <p:cNvSpPr txBox="1"/>
          <p:nvPr/>
        </p:nvSpPr>
        <p:spPr>
          <a:xfrm>
            <a:off x="1371600"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Repeat</a:t>
            </a:r>
          </a:p>
        </p:txBody>
      </p:sp>
      <p:sp>
        <p:nvSpPr>
          <p:cNvPr id="11" name="TextBox 10"/>
          <p:cNvSpPr txBox="1"/>
          <p:nvPr/>
        </p:nvSpPr>
        <p:spPr>
          <a:xfrm>
            <a:off x="813816"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Choose a second catalogue course</a:t>
            </a:r>
          </a:p>
        </p:txBody>
      </p:sp>
      <p:sp>
        <p:nvSpPr>
          <p:cNvPr id="12" name="Right Arrow 11"/>
          <p:cNvSpPr/>
          <p:nvPr/>
        </p:nvSpPr>
        <p:spPr>
          <a:xfrm>
            <a:off x="4023359"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98264"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62856"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2</a:t>
            </a:r>
          </a:p>
        </p:txBody>
      </p:sp>
      <p:sp>
        <p:nvSpPr>
          <p:cNvPr id="16" name="TextBox 15"/>
          <p:cNvSpPr txBox="1"/>
          <p:nvPr/>
        </p:nvSpPr>
        <p:spPr>
          <a:xfrm>
            <a:off x="5175504"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Compare</a:t>
            </a:r>
          </a:p>
        </p:txBody>
      </p:sp>
      <p:sp>
        <p:nvSpPr>
          <p:cNvPr id="17" name="TextBox 16"/>
          <p:cNvSpPr txBox="1"/>
          <p:nvPr/>
        </p:nvSpPr>
        <p:spPr>
          <a:xfrm>
            <a:off x="4617720"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Re-run the claim and format checks</a:t>
            </a:r>
          </a:p>
        </p:txBody>
      </p:sp>
      <p:sp>
        <p:nvSpPr>
          <p:cNvPr id="18" name="Right Arrow 17"/>
          <p:cNvSpPr/>
          <p:nvPr/>
        </p:nvSpPr>
        <p:spPr>
          <a:xfrm>
            <a:off x="7827264" y="3291840"/>
            <a:ext cx="219456" cy="274320"/>
          </a:xfrm>
          <a:prstGeom prst="rightArrow">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02168" y="2651760"/>
            <a:ext cx="33375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366760" y="2816352"/>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2898648"/>
            <a:ext cx="502920" cy="320040"/>
          </a:xfrm>
          <a:prstGeom prst="rect">
            <a:avLst/>
          </a:prstGeom>
          <a:noFill/>
        </p:spPr>
        <p:txBody>
          <a:bodyPr wrap="square" lIns="0" rIns="0" tIns="0" bIns="0">
            <a:spAutoFit/>
          </a:bodyPr>
          <a:lstStyle/>
          <a:p>
            <a:pPr algn="ctr">
              <a:spcAft>
                <a:spcPts val="600"/>
              </a:spcAft>
            </a:pPr>
            <a:r>
              <a:rPr sz="1800" b="1">
                <a:solidFill>
                  <a:srgbClr val="F3EFE7"/>
                </a:solidFill>
                <a:latin typeface="Calibri"/>
              </a:rPr>
              <a:t>3</a:t>
            </a:r>
          </a:p>
        </p:txBody>
      </p:sp>
      <p:sp>
        <p:nvSpPr>
          <p:cNvPr id="22" name="TextBox 21"/>
          <p:cNvSpPr txBox="1"/>
          <p:nvPr/>
        </p:nvSpPr>
        <p:spPr>
          <a:xfrm>
            <a:off x="8979408" y="2880360"/>
            <a:ext cx="2377439" cy="457200"/>
          </a:xfrm>
          <a:prstGeom prst="rect">
            <a:avLst/>
          </a:prstGeom>
          <a:noFill/>
        </p:spPr>
        <p:txBody>
          <a:bodyPr wrap="square" lIns="0" rIns="0" tIns="0" bIns="0">
            <a:spAutoFit/>
          </a:bodyPr>
          <a:lstStyle/>
          <a:p>
            <a:pPr>
              <a:spcAft>
                <a:spcPts val="600"/>
              </a:spcAft>
            </a:pPr>
            <a:r>
              <a:rPr sz="2300" b="1">
                <a:solidFill>
                  <a:srgbClr val="21201C"/>
                </a:solidFill>
                <a:latin typeface="Cambria"/>
              </a:rPr>
              <a:t>Apply</a:t>
            </a:r>
          </a:p>
        </p:txBody>
      </p:sp>
      <p:sp>
        <p:nvSpPr>
          <p:cNvPr id="23" name="TextBox 22"/>
          <p:cNvSpPr txBox="1"/>
          <p:nvPr/>
        </p:nvSpPr>
        <p:spPr>
          <a:xfrm>
            <a:off x="8421624" y="3611880"/>
            <a:ext cx="2898648" cy="548640"/>
          </a:xfrm>
          <a:prstGeom prst="rect">
            <a:avLst/>
          </a:prstGeom>
          <a:noFill/>
        </p:spPr>
        <p:txBody>
          <a:bodyPr wrap="square" lIns="0" rIns="0" tIns="0" bIns="0">
            <a:spAutoFit/>
          </a:bodyPr>
          <a:lstStyle/>
          <a:p>
            <a:pPr>
              <a:spcAft>
                <a:spcPts val="600"/>
              </a:spcAft>
            </a:pPr>
            <a:r>
              <a:rPr sz="1900" b="0">
                <a:solidFill>
                  <a:srgbClr val="67645D"/>
                </a:solidFill>
                <a:latin typeface="Calibri"/>
              </a:rPr>
              <a:t>Use an authorised real brief</a:t>
            </a:r>
          </a:p>
        </p:txBody>
      </p:sp>
      <p:sp>
        <p:nvSpPr>
          <p:cNvPr id="24" name="Rounded Rectangle 23"/>
          <p:cNvSpPr/>
          <p:nvPr/>
        </p:nvSpPr>
        <p:spPr>
          <a:xfrm>
            <a:off x="594360" y="5806440"/>
            <a:ext cx="10991088" cy="438912"/>
          </a:xfrm>
          <a:prstGeom prst="round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907024"/>
            <a:ext cx="10607040" cy="228600"/>
          </a:xfrm>
          <a:prstGeom prst="rect">
            <a:avLst/>
          </a:prstGeom>
          <a:noFill/>
        </p:spPr>
        <p:txBody>
          <a:bodyPr wrap="square" lIns="0" rIns="0" tIns="0" bIns="0">
            <a:spAutoFit/>
          </a:bodyPr>
          <a:lstStyle/>
          <a:p>
            <a:pPr>
              <a:spcAft>
                <a:spcPts val="600"/>
              </a:spcAft>
            </a:pPr>
            <a:r>
              <a:rPr sz="1100" b="0">
                <a:solidFill>
                  <a:srgbClr val="21201C"/>
                </a:solidFill>
                <a:latin typeface="Calibri"/>
              </a:rPr>
              <a:t>Confirm current facts, tools, audience and distribution approval before production use.</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LEARNING RESOURCES</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21201C"/>
                </a:solidFill>
                <a:latin typeface="Cambria"/>
              </a:rPr>
              <a:t>Sources and further reading</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67645D"/>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67645D"/>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67645D"/>
                </a:solidFill>
                <a:latin typeface="Calibri"/>
              </a:rPr>
              <a:t>75</a:t>
            </a:r>
          </a:p>
        </p:txBody>
      </p:sp>
      <p:sp>
        <p:nvSpPr>
          <p:cNvPr id="7" name="Rectangle 6"/>
          <p:cNvSpPr/>
          <p:nvPr/>
        </p:nvSpPr>
        <p:spPr>
          <a:xfrm>
            <a:off x="594360" y="2697480"/>
            <a:ext cx="210312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807208"/>
            <a:ext cx="1828799" cy="274320"/>
          </a:xfrm>
          <a:prstGeom prst="rect">
            <a:avLst/>
          </a:prstGeom>
          <a:noFill/>
        </p:spPr>
        <p:txBody>
          <a:bodyPr wrap="square" lIns="0" rIns="0" tIns="0" bIns="0">
            <a:spAutoFit/>
          </a:bodyPr>
          <a:lstStyle/>
          <a:p>
            <a:pPr>
              <a:spcAft>
                <a:spcPts val="600"/>
              </a:spcAft>
            </a:pPr>
            <a:r>
              <a:rPr sz="1500" b="1">
                <a:solidFill>
                  <a:srgbClr val="F3EFE7"/>
                </a:solidFill>
                <a:latin typeface="Calibri"/>
              </a:rPr>
              <a:t>Item</a:t>
            </a:r>
          </a:p>
        </p:txBody>
      </p:sp>
      <p:sp>
        <p:nvSpPr>
          <p:cNvPr id="9" name="Rectangle 8"/>
          <p:cNvSpPr/>
          <p:nvPr/>
        </p:nvSpPr>
        <p:spPr>
          <a:xfrm>
            <a:off x="2697480" y="2697480"/>
            <a:ext cx="576072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34640" y="2807208"/>
            <a:ext cx="5486400" cy="274320"/>
          </a:xfrm>
          <a:prstGeom prst="rect">
            <a:avLst/>
          </a:prstGeom>
          <a:noFill/>
        </p:spPr>
        <p:txBody>
          <a:bodyPr wrap="square" lIns="0" rIns="0" tIns="0" bIns="0">
            <a:spAutoFit/>
          </a:bodyPr>
          <a:lstStyle/>
          <a:p>
            <a:pPr>
              <a:spcAft>
                <a:spcPts val="600"/>
              </a:spcAft>
            </a:pPr>
            <a:r>
              <a:rPr sz="1500" b="1">
                <a:solidFill>
                  <a:srgbClr val="F3EFE7"/>
                </a:solidFill>
                <a:latin typeface="Calibri"/>
              </a:rPr>
              <a:t>Evidence / criterion</a:t>
            </a:r>
          </a:p>
        </p:txBody>
      </p:sp>
      <p:sp>
        <p:nvSpPr>
          <p:cNvPr id="11" name="Rectangle 10"/>
          <p:cNvSpPr/>
          <p:nvPr/>
        </p:nvSpPr>
        <p:spPr>
          <a:xfrm>
            <a:off x="8458200" y="2697480"/>
            <a:ext cx="3108960" cy="50292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2807208"/>
            <a:ext cx="2834640" cy="274320"/>
          </a:xfrm>
          <a:prstGeom prst="rect">
            <a:avLst/>
          </a:prstGeom>
          <a:noFill/>
        </p:spPr>
        <p:txBody>
          <a:bodyPr wrap="square" lIns="0" rIns="0" tIns="0" bIns="0">
            <a:spAutoFit/>
          </a:bodyPr>
          <a:lstStyle/>
          <a:p>
            <a:pPr>
              <a:spcAft>
                <a:spcPts val="600"/>
              </a:spcAft>
            </a:pPr>
            <a:r>
              <a:rPr sz="1500" b="1">
                <a:solidFill>
                  <a:srgbClr val="F3EFE7"/>
                </a:solidFill>
                <a:latin typeface="Calibri"/>
              </a:rPr>
              <a:t>Decision</a:t>
            </a:r>
          </a:p>
        </p:txBody>
      </p:sp>
      <p:sp>
        <p:nvSpPr>
          <p:cNvPr id="13" name="Rectangle 12"/>
          <p:cNvSpPr/>
          <p:nvPr/>
        </p:nvSpPr>
        <p:spPr>
          <a:xfrm>
            <a:off x="594360" y="3227832"/>
            <a:ext cx="21031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355848"/>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OpenAI Learn</a:t>
            </a:r>
          </a:p>
        </p:txBody>
      </p:sp>
      <p:sp>
        <p:nvSpPr>
          <p:cNvPr id="15" name="Rectangle 14"/>
          <p:cNvSpPr/>
          <p:nvPr/>
        </p:nvSpPr>
        <p:spPr>
          <a:xfrm>
            <a:off x="2697480" y="3227832"/>
            <a:ext cx="57607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34640" y="3355848"/>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ChatGPT Work, projects, skills and image guidance</a:t>
            </a:r>
          </a:p>
        </p:txBody>
      </p:sp>
      <p:sp>
        <p:nvSpPr>
          <p:cNvPr id="17" name="Rectangle 16"/>
          <p:cNvSpPr/>
          <p:nvPr/>
        </p:nvSpPr>
        <p:spPr>
          <a:xfrm>
            <a:off x="8458200" y="3227832"/>
            <a:ext cx="310896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3355848"/>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1 Oct 2026</a:t>
            </a:r>
          </a:p>
        </p:txBody>
      </p:sp>
      <p:sp>
        <p:nvSpPr>
          <p:cNvPr id="19" name="Rectangle 18"/>
          <p:cNvSpPr/>
          <p:nvPr/>
        </p:nvSpPr>
        <p:spPr>
          <a:xfrm>
            <a:off x="594360" y="3831335"/>
            <a:ext cx="210312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959352"/>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W3C WAI</a:t>
            </a:r>
          </a:p>
        </p:txBody>
      </p:sp>
      <p:sp>
        <p:nvSpPr>
          <p:cNvPr id="21" name="Rectangle 20"/>
          <p:cNvSpPr/>
          <p:nvPr/>
        </p:nvSpPr>
        <p:spPr>
          <a:xfrm>
            <a:off x="2697480" y="3831335"/>
            <a:ext cx="576072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34640" y="3959352"/>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Contrast minimum guidance</a:t>
            </a:r>
          </a:p>
        </p:txBody>
      </p:sp>
      <p:sp>
        <p:nvSpPr>
          <p:cNvPr id="23" name="Rectangle 22"/>
          <p:cNvSpPr/>
          <p:nvPr/>
        </p:nvSpPr>
        <p:spPr>
          <a:xfrm>
            <a:off x="8458200" y="3831335"/>
            <a:ext cx="3108960" cy="566928"/>
          </a:xfrm>
          <a:prstGeom prst="rect">
            <a:avLst/>
          </a:prstGeom>
          <a:solidFill>
            <a:srgbClr val="EC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360" y="3959352"/>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1 Oct 2026</a:t>
            </a:r>
          </a:p>
        </p:txBody>
      </p:sp>
      <p:sp>
        <p:nvSpPr>
          <p:cNvPr id="25" name="Rectangle 24"/>
          <p:cNvSpPr/>
          <p:nvPr/>
        </p:nvSpPr>
        <p:spPr>
          <a:xfrm>
            <a:off x="594360" y="4434840"/>
            <a:ext cx="21031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562856"/>
            <a:ext cx="1828799" cy="365760"/>
          </a:xfrm>
          <a:prstGeom prst="rect">
            <a:avLst/>
          </a:prstGeom>
          <a:noFill/>
        </p:spPr>
        <p:txBody>
          <a:bodyPr wrap="square" lIns="0" rIns="0" tIns="0" bIns="0">
            <a:spAutoFit/>
          </a:bodyPr>
          <a:lstStyle/>
          <a:p>
            <a:pPr>
              <a:spcAft>
                <a:spcPts val="600"/>
              </a:spcAft>
            </a:pPr>
            <a:r>
              <a:rPr sz="1600" b="0">
                <a:solidFill>
                  <a:srgbClr val="21201C"/>
                </a:solidFill>
                <a:latin typeface="Calibri"/>
              </a:rPr>
              <a:t>Mailchimp</a:t>
            </a:r>
          </a:p>
        </p:txBody>
      </p:sp>
      <p:sp>
        <p:nvSpPr>
          <p:cNvPr id="27" name="Rectangle 26"/>
          <p:cNvSpPr/>
          <p:nvPr/>
        </p:nvSpPr>
        <p:spPr>
          <a:xfrm>
            <a:off x="2697480" y="4434840"/>
            <a:ext cx="576072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34640" y="4562856"/>
            <a:ext cx="548640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Open and click rate definitions and limitations</a:t>
            </a:r>
          </a:p>
        </p:txBody>
      </p:sp>
      <p:sp>
        <p:nvSpPr>
          <p:cNvPr id="29" name="Rectangle 28"/>
          <p:cNvSpPr/>
          <p:nvPr/>
        </p:nvSpPr>
        <p:spPr>
          <a:xfrm>
            <a:off x="8458200" y="4434840"/>
            <a:ext cx="310896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95360" y="4562856"/>
            <a:ext cx="2834640" cy="365760"/>
          </a:xfrm>
          <a:prstGeom prst="rect">
            <a:avLst/>
          </a:prstGeom>
          <a:noFill/>
        </p:spPr>
        <p:txBody>
          <a:bodyPr wrap="square" lIns="0" rIns="0" tIns="0" bIns="0">
            <a:spAutoFit/>
          </a:bodyPr>
          <a:lstStyle/>
          <a:p>
            <a:pPr>
              <a:spcAft>
                <a:spcPts val="600"/>
              </a:spcAft>
            </a:pPr>
            <a:r>
              <a:rPr sz="1600" b="0">
                <a:solidFill>
                  <a:srgbClr val="21201C"/>
                </a:solidFill>
                <a:latin typeface="Calibri"/>
              </a:rPr>
              <a:t>1 Oct 2026</a:t>
            </a:r>
          </a:p>
        </p:txBody>
      </p:sp>
      <p:sp>
        <p:nvSpPr>
          <p:cNvPr id="31" name="TextBox 30"/>
          <p:cNvSpPr txBox="1"/>
          <p:nvPr/>
        </p:nvSpPr>
        <p:spPr>
          <a:xfrm>
            <a:off x="594360" y="5303520"/>
            <a:ext cx="10972800" cy="274320"/>
          </a:xfrm>
          <a:prstGeom prst="rect">
            <a:avLst/>
          </a:prstGeom>
          <a:noFill/>
        </p:spPr>
        <p:txBody>
          <a:bodyPr wrap="square" lIns="0" rIns="0" tIns="0" bIns="0">
            <a:spAutoFit/>
          </a:bodyPr>
          <a:lstStyle/>
          <a:p>
            <a:pPr>
              <a:spcAft>
                <a:spcPts val="600"/>
              </a:spcAft>
            </a:pPr>
            <a:r>
              <a:rPr sz="1500" b="0">
                <a:solidFill>
                  <a:srgbClr val="67645D"/>
                </a:solidFill>
                <a:latin typeface="Calibri"/>
              </a:rPr>
              <a:t>Clickable source URLs are recorded in the Learner Guide and SOURCE-NOTES.md.</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94360" y="384048"/>
            <a:ext cx="10607040" cy="320040"/>
          </a:xfrm>
          <a:prstGeom prst="rect">
            <a:avLst/>
          </a:prstGeom>
          <a:noFill/>
        </p:spPr>
        <p:txBody>
          <a:bodyPr wrap="square" lIns="0" rIns="0" tIns="0" bIns="0">
            <a:spAutoFit/>
          </a:bodyPr>
          <a:lstStyle/>
          <a:p>
            <a:pPr>
              <a:spcAft>
                <a:spcPts val="600"/>
              </a:spcAft>
            </a:pPr>
            <a:r>
              <a:rPr sz="1200" b="1">
                <a:solidFill>
                  <a:srgbClr val="D97757"/>
                </a:solidFill>
                <a:latin typeface="Calibri"/>
              </a:rPr>
              <a:t>C818 · TERTIARY INFOTECH</a:t>
            </a:r>
          </a:p>
        </p:txBody>
      </p:sp>
      <p:sp>
        <p:nvSpPr>
          <p:cNvPr id="3" name="TextBox 2"/>
          <p:cNvSpPr txBox="1"/>
          <p:nvPr/>
        </p:nvSpPr>
        <p:spPr>
          <a:xfrm>
            <a:off x="594360" y="877824"/>
            <a:ext cx="10972800" cy="822960"/>
          </a:xfrm>
          <a:prstGeom prst="rect">
            <a:avLst/>
          </a:prstGeom>
          <a:noFill/>
        </p:spPr>
        <p:txBody>
          <a:bodyPr wrap="square" lIns="0" rIns="0" tIns="0" bIns="0">
            <a:spAutoFit/>
          </a:bodyPr>
          <a:lstStyle/>
          <a:p>
            <a:pPr>
              <a:spcAft>
                <a:spcPts val="600"/>
              </a:spcAft>
            </a:pPr>
            <a:r>
              <a:rPr sz="3000" b="1">
                <a:solidFill>
                  <a:srgbClr val="F3EFE7"/>
                </a:solidFill>
                <a:latin typeface="Cambria"/>
              </a:rPr>
              <a:t>Thank you</a:t>
            </a:r>
          </a:p>
        </p:txBody>
      </p:sp>
      <p:sp>
        <p:nvSpPr>
          <p:cNvPr id="4" name="TextBox 3"/>
          <p:cNvSpPr txBox="1"/>
          <p:nvPr/>
        </p:nvSpPr>
        <p:spPr>
          <a:xfrm>
            <a:off x="594360" y="6510528"/>
            <a:ext cx="6400800" cy="182880"/>
          </a:xfrm>
          <a:prstGeom prst="rect">
            <a:avLst/>
          </a:prstGeom>
          <a:noFill/>
        </p:spPr>
        <p:txBody>
          <a:bodyPr wrap="square" lIns="0" rIns="0" tIns="0" bIns="0">
            <a:spAutoFit/>
          </a:bodyPr>
          <a:lstStyle/>
          <a:p>
            <a:pPr>
              <a:spcAft>
                <a:spcPts val="600"/>
              </a:spcAft>
            </a:pPr>
            <a:r>
              <a:rPr sz="800" b="0">
                <a:solidFill>
                  <a:srgbClr val="A39E92"/>
                </a:solidFill>
                <a:latin typeface="Calibri"/>
              </a:rPr>
              <a:t>© Tertiary Infotech Academy Pte Ltd</a:t>
            </a:r>
          </a:p>
        </p:txBody>
      </p:sp>
      <p:sp>
        <p:nvSpPr>
          <p:cNvPr id="5" name="TextBox 4"/>
          <p:cNvSpPr txBox="1"/>
          <p:nvPr/>
        </p:nvSpPr>
        <p:spPr>
          <a:xfrm>
            <a:off x="6492240" y="6510528"/>
            <a:ext cx="4754880" cy="182880"/>
          </a:xfrm>
          <a:prstGeom prst="rect">
            <a:avLst/>
          </a:prstGeom>
          <a:noFill/>
        </p:spPr>
        <p:txBody>
          <a:bodyPr wrap="square" lIns="0" rIns="0" tIns="0" bIns="0">
            <a:spAutoFit/>
          </a:bodyPr>
          <a:lstStyle/>
          <a:p>
            <a:pPr algn="r">
              <a:spcAft>
                <a:spcPts val="600"/>
              </a:spcAft>
            </a:pPr>
            <a:r>
              <a:rPr sz="800" b="0">
                <a:solidFill>
                  <a:srgbClr val="A39E92"/>
                </a:solidFill>
                <a:latin typeface="Calibri"/>
              </a:rPr>
              <a:t>C818 · ChatGPT WORK for Digital Marketing</a:t>
            </a:r>
          </a:p>
        </p:txBody>
      </p:sp>
      <p:sp>
        <p:nvSpPr>
          <p:cNvPr id="6" name="TextBox 5"/>
          <p:cNvSpPr txBox="1"/>
          <p:nvPr/>
        </p:nvSpPr>
        <p:spPr>
          <a:xfrm>
            <a:off x="11430000" y="6510528"/>
            <a:ext cx="274320" cy="182880"/>
          </a:xfrm>
          <a:prstGeom prst="rect">
            <a:avLst/>
          </a:prstGeom>
          <a:noFill/>
        </p:spPr>
        <p:txBody>
          <a:bodyPr wrap="square" lIns="0" rIns="0" tIns="0" bIns="0">
            <a:spAutoFit/>
          </a:bodyPr>
          <a:lstStyle/>
          <a:p>
            <a:pPr>
              <a:spcAft>
                <a:spcPts val="600"/>
              </a:spcAft>
            </a:pPr>
            <a:r>
              <a:rPr sz="800" b="0">
                <a:solidFill>
                  <a:srgbClr val="A39E92"/>
                </a:solidFill>
                <a:latin typeface="Calibri"/>
              </a:rPr>
              <a:t>76</a:t>
            </a:r>
          </a:p>
        </p:txBody>
      </p:sp>
      <p:sp>
        <p:nvSpPr>
          <p:cNvPr id="7" name="Oval 6"/>
          <p:cNvSpPr/>
          <p:nvPr/>
        </p:nvSpPr>
        <p:spPr>
          <a:xfrm>
            <a:off x="9784080" y="4297680"/>
            <a:ext cx="3657600" cy="3657600"/>
          </a:xfrm>
          <a:prstGeom prst="ellipse">
            <a:avLst/>
          </a:prstGeom>
          <a:solidFill>
            <a:srgbClr val="233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377440"/>
            <a:ext cx="10424160" cy="1371600"/>
          </a:xfrm>
          <a:prstGeom prst="rect">
            <a:avLst/>
          </a:prstGeom>
          <a:noFill/>
        </p:spPr>
        <p:txBody>
          <a:bodyPr wrap="square" lIns="0" rIns="0" tIns="0" bIns="0">
            <a:spAutoFit/>
          </a:bodyPr>
          <a:lstStyle/>
          <a:p>
            <a:pPr>
              <a:spcAft>
                <a:spcPts val="600"/>
              </a:spcAft>
            </a:pPr>
            <a:r>
              <a:rPr sz="3600" b="1">
                <a:solidFill>
                  <a:srgbClr val="F3EFE7"/>
                </a:solidFill>
                <a:latin typeface="Cambria"/>
              </a:rPr>
              <a:t>Make useful work.</a:t>
            </a:r>
          </a:p>
          <a:p>
            <a:pPr>
              <a:spcAft>
                <a:spcPts val="600"/>
              </a:spcAft>
            </a:pPr>
            <a:r>
              <a:rPr sz="3600" b="1">
                <a:solidFill>
                  <a:srgbClr val="F3EFE7"/>
                </a:solidFill>
                <a:latin typeface="Cambria"/>
              </a:rPr>
              <a:t>Keep the evidence with it.</a:t>
            </a:r>
          </a:p>
        </p:txBody>
      </p:sp>
      <p:sp>
        <p:nvSpPr>
          <p:cNvPr id="9" name="TextBox 8"/>
          <p:cNvSpPr txBox="1"/>
          <p:nvPr/>
        </p:nvSpPr>
        <p:spPr>
          <a:xfrm>
            <a:off x="594360" y="4754880"/>
            <a:ext cx="10424160" cy="548640"/>
          </a:xfrm>
          <a:prstGeom prst="rect">
            <a:avLst/>
          </a:prstGeom>
          <a:noFill/>
        </p:spPr>
        <p:txBody>
          <a:bodyPr wrap="square" lIns="0" rIns="0" tIns="0" bIns="0">
            <a:spAutoFit/>
          </a:bodyPr>
          <a:lstStyle/>
          <a:p>
            <a:pPr>
              <a:spcAft>
                <a:spcPts val="600"/>
              </a:spcAft>
            </a:pPr>
            <a:r>
              <a:rPr sz="1800" b="0">
                <a:solidFill>
                  <a:srgbClr val="F3EFE7"/>
                </a:solidFill>
                <a:latin typeface="Calibri"/>
              </a:rPr>
              <a:t>www.tertiarycourses.com.sg · enquiry@tertiaryinfotech.com</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